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Chào — nhóm 3. Đề tài: dùng GPT-4o-mini để CHỌN mutant cho mutation testing trên Java, so với chọn ngẫu nhiên cùng ngân sách. Đọc tên nhóm rồi sang slide 2 ngay, không dừng lâu.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Không nói kỹ thuật ở slide này.</a:t>
            </a:r>
          </a:p>
          <a:p>
            <a:r>
              <a:t>- Mutation testing = cố tình tạo lỗi nhỏ trong code, xem test có bắt được không. Đo chất lượng test rất tốt.</a:t>
            </a:r>
          </a:p>
          <a:p>
            <a:r>
              <a:t>- Nhưng: 3 project nhỏ đã ra 11,040 mutant, mỗi mutant phải chạy lại cả test suite → CI không kham nổi → thực tế team bỏ.</a:t>
            </a:r>
          </a:p>
          <a:p>
            <a:r>
              <a:t>- Chốt: câu hỏi thật không phải 'chạy hết', mà là 'chỉ chạy được 10% thì chọn 10% nào'. Đó chính là đề tài.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a:t>
            </a:r>
          </a:p>
          <a:p>
            <a:r>
              <a:t>- GAP: LLM đã sinh mutant, lọc equivalent mutant, sinh test — nhưng chưa ai dùng LLM làm người CHỌN mutant rồi so với random cùng budget.</a:t>
            </a:r>
          </a:p>
          <a:p>
            <a:r>
              <a:t>- Bài gần nhất là Jimenez 2018, dùng n-gram chứ không phải LLM, và kết quả là n-gram không hơn random. Câu hỏi còn bỏ ngỏ cho LLM hiện đại.</a:t>
            </a:r>
          </a:p>
          <a:p>
            <a:r>
              <a:t>- RQ1 + H0/H1 đọc thẳng trên slide. Nhấn: tiêu chí p&lt;0.05 VÀ r_rb&gt;=0.30 được chốt TRƯỚC khi chạy, không phải chọn sau khi thấy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 slide nặng nhất, đi theo mũi tên.</a:t>
            </a:r>
          </a:p>
          <a:p>
            <a:r>
              <a:t>- Dataset: 3 project 3 domain khác nhau (encoding / CSV / JSON) để tăng external validity. 20 class, 11,040 mutant, 37 group.</a:t>
            </a:r>
          </a:p>
          <a:p>
            <a:r>
              <a:t>- Pipeline: PIT sinh pool → hai nhánh GPT và Random → CÙNG chọn top 10% trong từng group → cùng 1,119 mutant → tính MS → Wilcoxon.</a:t>
            </a:r>
          </a:p>
          <a:p>
            <a:r>
              <a:t>- Nhấn 2 ý: (1) hai nhánh chung pool chung budget nên khác biệt chỉ do cách chọn; (2) Codec từng hỏng 100% NO_COVERAGE, nhóm phát hiện và sửa, thêm guard tự động — nếu bị hỏi, đây là điểm mạnh về tính trung thực.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a:t>
            </a:r>
          </a:p>
          <a:p>
            <a:r>
              <a:t>- MS = Killed/Selected, tính ở 2 đơn vị: theo group (pre-registered) và theo mutant (pooled).</a:t>
            </a:r>
          </a:p>
          <a:p>
            <a:r>
              <a:t>- Test: Wilcoxon 1 phía ghép cặp, alpha 0.05, effect size r_rb &gt;= 0.30.</a:t>
            </a:r>
          </a:p>
          <a:p>
            <a:r>
              <a:t>- Ngưỡng 0.30 lấy từ Jimenez, không phải bịa.</a:t>
            </a:r>
          </a:p>
          <a:p>
            <a:r>
              <a:t>- Amendment: nói ngắn — tiêu chí median bị hỏng về mặt toán vì group nhỏ làm MS lượng tử thô, 11/37 cặp hòa ghim median = 0. Bỏ vì lý do phương pháp, KHÔNG hạ ngưỡng p hay r_rb.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 — slide phải nói THẬT.</a:t>
            </a:r>
          </a:p>
          <a:p>
            <a:r>
              <a:t>- Trái: tổng thể GPT 0.716 vs random 0.670, tức +4.6 điểm, +51 mutant bị giết thêm trên cùng 1,119 mutant.</a:t>
            </a:r>
          </a:p>
          <a:p>
            <a:r>
              <a:t>- Phải: nhưng ở đơn vị pre-registered (37 group), p = 0.0591 &gt; 0.05 → KHÔNG bác bỏ được H0. r_rb = +0.350 đạt ngưỡng nhưng p thì không.</a:t>
            </a:r>
          </a:p>
          <a:p>
            <a:r>
              <a:t>- Nói rõ: nhóm KHÔNG hạ ngưỡng để cho đạt. Báo cáo đúng như đã đăng ký.</a:t>
            </a:r>
          </a:p>
          <a:p>
            <a:r>
              <a:t>- Không subgroup nào p &lt; 0.05. Csv effect lớn nhất nhưng n = 10, sát ngưỡng chỉ-mô-tả.</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a:t>
            </a:r>
          </a:p>
          <a:p>
            <a:r>
              <a:t>- Trái: cả 3 project GPT đều cao hơn, nhưng Codec gần như hòa (r_rb = +0.028) — vì test suite của Codec đã giết sẵn 84.9% pool, hiệu ứng trần.</a:t>
            </a:r>
          </a:p>
          <a:p>
            <a:r>
              <a:t>- Phải: 37 cặp — 17 thắng, 9 thua, 11 hòa (cột hòa là bar bằng 0). Median của 26 cặp không hòa là +0.082.</a:t>
            </a:r>
          </a:p>
          <a:p>
            <a:r>
              <a:t>- Ba ô dưới là robustness: z-test cấp mutant p=0.0097; Monte Carlo 5,000 lượt GPT vượt 4,999 → p=0.0002; và kiểm tra GPT không phải chỉ né mutant không có coverage.</a:t>
            </a:r>
          </a:p>
          <a:p>
            <a:r>
              <a:t>- Chốt: tín hiệu chọn là THẬT, nhưng tập trung chứ không đều.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phút.</a:t>
            </a:r>
          </a:p>
          <a:p>
            <a:r>
              <a:t>- Vì sao: lợi thế tập trung ở JacksonCore (63% mutant giết thêm đến từ 3 group parser lớn), Codec bị hiệu ứng trần, và đơn vị phân tích quyết định kết luận.</a:t>
            </a:r>
          </a:p>
          <a:p>
            <a:r>
              <a:t>- Nhấn: group-weighted p=0.059 và mutant-weighted p=0.0002 KHÔNG mâu thuẫn — chúng trả lời hai câu hỏi khác nhau.</a:t>
            </a:r>
          </a:p>
          <a:p>
            <a:r>
              <a:t>- Hạn chế: nói thẳng, đừng né. N=37 power thấp; thang 1-5 gây hòa; 1 seed; phạm vi hẹp; MS không bằng bắt bug thật.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a:t>
            </a:r>
          </a:p>
          <a:p>
            <a:r>
              <a:t>- Kết luận một câu: PARTIAL SUPPORT. Ở đơn vị đã đăng ký trước thì chưa bác bỏ được H0; ở cấp độ mutant thì lợi thế là thật và robust.</a:t>
            </a:r>
          </a:p>
          <a:p>
            <a:r>
              <a:t>- Nhất quán với Jimenez 2018: chọn bằng language model không áp đảo random.</a:t>
            </a:r>
          </a:p>
          <a:p>
            <a:r>
              <a:t>- Đóng góp: (1) lần đầu đánh giá GPT-4o-mini ở vai trò người CHỌN mutant; (2) chỉ ra đơn vị phân tích có thể ĐẢO NGƯỢC kết luận thống kê.</a:t>
            </a:r>
          </a:p>
          <a:p>
            <a:r>
              <a:t>- 3 hướng phát triển đọc nhanh. Kết bằng link replication package.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960120"/>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1300" b="1" i="0">
                <a:solidFill>
                  <a:srgbClr val="1F5FA8"/>
                </a:solidFill>
                <a:latin typeface="Segoe UI"/>
              </a:rPr>
              <a:t>SWT301 · RESEARCH-BASED LEARNING · NHÓM 3</a:t>
            </a:r>
          </a:p>
        </p:txBody>
      </p:sp>
      <p:sp>
        <p:nvSpPr>
          <p:cNvPr id="4" name="TextBox 3"/>
          <p:cNvSpPr txBox="1"/>
          <p:nvPr/>
        </p:nvSpPr>
        <p:spPr>
          <a:xfrm>
            <a:off x="566928" y="1481328"/>
            <a:ext cx="10607040" cy="1645920"/>
          </a:xfrm>
          <a:prstGeom prst="rect">
            <a:avLst/>
          </a:prstGeom>
          <a:noFill/>
        </p:spPr>
        <p:txBody>
          <a:bodyPr wrap="square" lIns="0" rIns="0" tIns="0" bIns="0" anchor="t">
            <a:spAutoFit/>
          </a:bodyPr>
          <a:lstStyle/>
          <a:p>
            <a:pPr algn="l">
              <a:lnSpc>
                <a:spcPct val="112000"/>
              </a:lnSpc>
              <a:spcBef>
                <a:spcPts val="0"/>
              </a:spcBef>
              <a:spcAft>
                <a:spcPts val="0"/>
              </a:spcAft>
            </a:pPr>
            <a:r>
              <a:rPr sz="4000" b="1" i="0">
                <a:solidFill>
                  <a:srgbClr val="1B2430"/>
                </a:solidFill>
                <a:latin typeface="Segoe UI"/>
              </a:rPr>
              <a:t>GPT-4o-mini có chọn mutant giỏi hơn
chọn ngẫu nhiên không?</a:t>
            </a:r>
          </a:p>
        </p:txBody>
      </p:sp>
      <p:sp>
        <p:nvSpPr>
          <p:cNvPr id="5" name="Rectangle 4"/>
          <p:cNvSpPr/>
          <p:nvPr/>
        </p:nvSpPr>
        <p:spPr>
          <a:xfrm>
            <a:off x="566928" y="3163824"/>
            <a:ext cx="1005840" cy="40640"/>
          </a:xfrm>
          <a:prstGeom prst="rect">
            <a:avLst/>
          </a:prstGeom>
          <a:solidFill>
            <a:srgbClr val="E88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438144"/>
            <a:ext cx="10607040" cy="457200"/>
          </a:xfrm>
          <a:prstGeom prst="rect">
            <a:avLst/>
          </a:prstGeom>
          <a:noFill/>
        </p:spPr>
        <p:txBody>
          <a:bodyPr wrap="square" lIns="0" rIns="0" tIns="0" bIns="0" anchor="t">
            <a:spAutoFit/>
          </a:bodyPr>
          <a:lstStyle/>
          <a:p>
            <a:pPr algn="l">
              <a:lnSpc>
                <a:spcPct val="125000"/>
              </a:lnSpc>
              <a:spcBef>
                <a:spcPts val="0"/>
              </a:spcBef>
              <a:spcAft>
                <a:spcPts val="0"/>
              </a:spcAft>
            </a:pPr>
            <a:r>
              <a:rPr sz="1750" b="0" i="1">
                <a:solidFill>
                  <a:srgbClr val="3A4452"/>
                </a:solidFill>
                <a:latin typeface="Segoe UI"/>
              </a:rPr>
              <a:t>GPT-4o-mini-based Mutant Selection for Java Mutation Testing</a:t>
            </a:r>
          </a:p>
        </p:txBody>
      </p:sp>
      <p:sp>
        <p:nvSpPr>
          <p:cNvPr id="7" name="Rounded Rectangle 6"/>
          <p:cNvSpPr/>
          <p:nvPr/>
        </p:nvSpPr>
        <p:spPr>
          <a:xfrm>
            <a:off x="566928" y="4224528"/>
            <a:ext cx="11057839" cy="137160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28016"/>
          <a:lstStyle/>
          <a:p>
            <a:pPr algn="l">
              <a:lnSpc>
                <a:spcPct val="125000"/>
              </a:lnSpc>
              <a:spcBef>
                <a:spcPts val="0"/>
              </a:spcBef>
              <a:spcAft>
                <a:spcPts val="700"/>
              </a:spcAft>
            </a:pPr>
            <a:r>
              <a:rPr sz="1200" b="1" i="0">
                <a:solidFill>
                  <a:srgbClr val="778291"/>
                </a:solidFill>
                <a:latin typeface="Segoe UI"/>
              </a:rPr>
              <a:t>Thành viên</a:t>
            </a:r>
          </a:p>
          <a:p>
            <a:pPr algn="l">
              <a:lnSpc>
                <a:spcPct val="125000"/>
              </a:lnSpc>
              <a:spcBef>
                <a:spcPts val="0"/>
              </a:spcBef>
              <a:spcAft>
                <a:spcPts val="800"/>
              </a:spcAft>
            </a:pPr>
            <a:r>
              <a:rPr sz="1600" b="1" i="0">
                <a:solidFill>
                  <a:srgbClr val="1B2430"/>
                </a:solidFill>
                <a:latin typeface="Segoe UI"/>
              </a:rPr>
              <a:t>Phạm Mạnh Quỳnh · Trần Trúc Vỹ · Phan Nguyễn Đình Khôi · Nguyễn Trường Vinh · Nguyễn Nhật Anh</a:t>
            </a:r>
          </a:p>
          <a:p>
            <a:pPr algn="l">
              <a:lnSpc>
                <a:spcPct val="125000"/>
              </a:lnSpc>
              <a:spcBef>
                <a:spcPts val="0"/>
              </a:spcBef>
              <a:spcAft>
                <a:spcPts val="0"/>
              </a:spcAft>
            </a:pPr>
            <a:r>
              <a:rPr sz="1300" b="0" i="0">
                <a:solidFill>
                  <a:srgbClr val="778291"/>
                </a:solidFill>
                <a:latin typeface="Segoe UI"/>
              </a:rPr>
              <a:t>FPT University, HCM — 2026</a:t>
            </a:r>
          </a:p>
        </p:txBody>
      </p:sp>
      <p:sp>
        <p:nvSpPr>
          <p:cNvPr id="8" name="TextBox 7"/>
          <p:cNvSpPr txBox="1"/>
          <p:nvPr/>
        </p:nvSpPr>
        <p:spPr>
          <a:xfrm>
            <a:off x="566928" y="5870448"/>
            <a:ext cx="11057839" cy="365760"/>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778291"/>
                </a:solidFill>
                <a:latin typeface="Segoe UI"/>
              </a:rPr>
              <a:t>Dataset  </a:t>
            </a:r>
            <a:r>
              <a:rPr sz="1200" b="1" i="0">
                <a:solidFill>
                  <a:srgbClr val="3A4452"/>
                </a:solidFill>
                <a:latin typeface="Segoe UI"/>
              </a:rPr>
              <a:t>Defects4J — Codec · CSV · JacksonCore</a:t>
            </a:r>
            <a:r>
              <a:rPr sz="1200" b="0" i="0">
                <a:solidFill>
                  <a:srgbClr val="778291"/>
                </a:solidFill>
                <a:latin typeface="Segoe UI"/>
              </a:rPr>
              <a:t>      Pool  </a:t>
            </a:r>
            <a:r>
              <a:rPr sz="1200" b="1" i="0">
                <a:solidFill>
                  <a:srgbClr val="3A4452"/>
                </a:solidFill>
                <a:latin typeface="Segoe UI"/>
              </a:rPr>
              <a:t>11,040 PIT mutants</a:t>
            </a:r>
            <a:r>
              <a:rPr sz="1200" b="0" i="0">
                <a:solidFill>
                  <a:srgbClr val="778291"/>
                </a:solidFill>
                <a:latin typeface="Segoe UI"/>
              </a:rPr>
              <a:t>      Replication  </a:t>
            </a:r>
            <a:r>
              <a:rPr sz="1200" b="0" i="0">
                <a:solidFill>
                  <a:srgbClr val="1F5FA8"/>
                </a:solidFill>
                <a:latin typeface="Consolas"/>
              </a:rPr>
              <a:t>github.com/KhoiPhanDinh/RT-SWT-003-nhom3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9503359" cy="237744"/>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VẤN ĐỀ THỰC TẾ</a:t>
            </a:r>
          </a:p>
        </p:txBody>
      </p:sp>
      <p:sp>
        <p:nvSpPr>
          <p:cNvPr id="3" name="TextBox 2"/>
          <p:cNvSpPr txBox="1"/>
          <p:nvPr/>
        </p:nvSpPr>
        <p:spPr>
          <a:xfrm>
            <a:off x="566928" y="603504"/>
            <a:ext cx="9503359" cy="566928"/>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1B2430"/>
                </a:solidFill>
                <a:latin typeface="Segoe UI"/>
              </a:rPr>
              <a:t>Mutation testing rất tốt — nhưng quá đắt để chạy thật</a:t>
            </a:r>
          </a:p>
        </p:txBody>
      </p:sp>
      <p:sp>
        <p:nvSpPr>
          <p:cNvPr id="4" name="Rectangle 3"/>
          <p:cNvSpPr/>
          <p:nvPr/>
        </p:nvSpPr>
        <p:spPr>
          <a:xfrm>
            <a:off x="566928" y="1243584"/>
            <a:ext cx="822960" cy="406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1727" y="329184"/>
            <a:ext cx="1463040" cy="274320"/>
          </a:xfrm>
          <a:prstGeom prst="rect">
            <a:avLst/>
          </a:prstGeom>
          <a:noFill/>
        </p:spPr>
        <p:txBody>
          <a:bodyPr wrap="square" lIns="0" rIns="0" tIns="0" bIns="0" anchor="t">
            <a:spAutoFit/>
          </a:bodyPr>
          <a:lstStyle/>
          <a:p>
            <a:pPr algn="r">
              <a:lnSpc>
                <a:spcPct val="125000"/>
              </a:lnSpc>
              <a:spcBef>
                <a:spcPts val="0"/>
              </a:spcBef>
              <a:spcAft>
                <a:spcPts val="0"/>
              </a:spcAft>
            </a:pPr>
            <a:r>
              <a:rPr sz="1200" b="1" i="0">
                <a:solidFill>
                  <a:srgbClr val="778291"/>
                </a:solidFill>
                <a:latin typeface="Segoe UI"/>
              </a:rPr>
              <a:t>1 phút</a:t>
            </a:r>
          </a:p>
        </p:txBody>
      </p:sp>
      <p:sp>
        <p:nvSpPr>
          <p:cNvPr id="6" name="TextBox 5"/>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2/9</a:t>
            </a:r>
          </a:p>
        </p:txBody>
      </p:sp>
      <p:sp>
        <p:nvSpPr>
          <p:cNvPr id="7" name="Rounded Rectangle 6"/>
          <p:cNvSpPr/>
          <p:nvPr/>
        </p:nvSpPr>
        <p:spPr>
          <a:xfrm>
            <a:off x="566928" y="1691640"/>
            <a:ext cx="3533546" cy="192024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800"/>
              </a:spcAft>
            </a:pPr>
            <a:r>
              <a:rPr sz="1300" b="1" i="0">
                <a:solidFill>
                  <a:srgbClr val="E8873A"/>
                </a:solidFill>
                <a:latin typeface="Segoe UI"/>
              </a:rPr>
              <a:t>01</a:t>
            </a:r>
          </a:p>
          <a:p>
            <a:pPr algn="l">
              <a:lnSpc>
                <a:spcPct val="115000"/>
              </a:lnSpc>
              <a:spcBef>
                <a:spcPts val="0"/>
              </a:spcBef>
              <a:spcAft>
                <a:spcPts val="800"/>
              </a:spcAft>
            </a:pPr>
            <a:r>
              <a:rPr sz="1700" b="1" i="0">
                <a:solidFill>
                  <a:srgbClr val="1B2430"/>
                </a:solidFill>
                <a:latin typeface="Segoe UI"/>
              </a:rPr>
              <a:t>Sinh ra quá nhiều mutant</a:t>
            </a:r>
          </a:p>
          <a:p>
            <a:pPr algn="l">
              <a:lnSpc>
                <a:spcPct val="135000"/>
              </a:lnSpc>
              <a:spcBef>
                <a:spcPts val="0"/>
              </a:spcBef>
              <a:spcAft>
                <a:spcPts val="0"/>
              </a:spcAft>
            </a:pPr>
            <a:r>
              <a:rPr sz="1350" b="0" i="0">
                <a:solidFill>
                  <a:srgbClr val="3A4452"/>
                </a:solidFill>
                <a:latin typeface="Segoe UI"/>
              </a:rPr>
              <a:t>Chỉ 3 project cỡ nhỏ, 10 version mỗi project đã ra 11,040 mutant.</a:t>
            </a:r>
          </a:p>
        </p:txBody>
      </p:sp>
      <p:sp>
        <p:nvSpPr>
          <p:cNvPr id="8" name="Rounded Rectangle 7"/>
          <p:cNvSpPr/>
          <p:nvPr/>
        </p:nvSpPr>
        <p:spPr>
          <a:xfrm>
            <a:off x="4329074" y="1691640"/>
            <a:ext cx="3533546" cy="192024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800"/>
              </a:spcAft>
            </a:pPr>
            <a:r>
              <a:rPr sz="1300" b="1" i="0">
                <a:solidFill>
                  <a:srgbClr val="E8873A"/>
                </a:solidFill>
                <a:latin typeface="Segoe UI"/>
              </a:rPr>
              <a:t>02</a:t>
            </a:r>
          </a:p>
          <a:p>
            <a:pPr algn="l">
              <a:lnSpc>
                <a:spcPct val="115000"/>
              </a:lnSpc>
              <a:spcBef>
                <a:spcPts val="0"/>
              </a:spcBef>
              <a:spcAft>
                <a:spcPts val="800"/>
              </a:spcAft>
            </a:pPr>
            <a:r>
              <a:rPr sz="1700" b="1" i="0">
                <a:solidFill>
                  <a:srgbClr val="1B2430"/>
                </a:solidFill>
                <a:latin typeface="Segoe UI"/>
              </a:rPr>
              <a:t>Mỗi mutant = chạy lại cả test suite</a:t>
            </a:r>
          </a:p>
          <a:p>
            <a:pPr algn="l">
              <a:lnSpc>
                <a:spcPct val="135000"/>
              </a:lnSpc>
              <a:spcBef>
                <a:spcPts val="0"/>
              </a:spcBef>
              <a:spcAft>
                <a:spcPts val="0"/>
              </a:spcAft>
            </a:pPr>
            <a:r>
              <a:rPr sz="1350" b="0" i="0">
                <a:solidFill>
                  <a:srgbClr val="3A4452"/>
                </a:solidFill>
                <a:latin typeface="Segoe UI"/>
              </a:rPr>
              <a:t>Chi phí nhân lên hàng nghìn lần. Pipeline CI không có đủ thời gian để chạy hết.</a:t>
            </a:r>
          </a:p>
        </p:txBody>
      </p:sp>
      <p:sp>
        <p:nvSpPr>
          <p:cNvPr id="9" name="Rounded Rectangle 8"/>
          <p:cNvSpPr/>
          <p:nvPr/>
        </p:nvSpPr>
        <p:spPr>
          <a:xfrm>
            <a:off x="8091220" y="1691640"/>
            <a:ext cx="3533546" cy="192024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800"/>
              </a:spcAft>
            </a:pPr>
            <a:r>
              <a:rPr sz="1300" b="1" i="0">
                <a:solidFill>
                  <a:srgbClr val="E8873A"/>
                </a:solidFill>
                <a:latin typeface="Segoe UI"/>
              </a:rPr>
              <a:t>03</a:t>
            </a:r>
          </a:p>
          <a:p>
            <a:pPr algn="l">
              <a:lnSpc>
                <a:spcPct val="115000"/>
              </a:lnSpc>
              <a:spcBef>
                <a:spcPts val="0"/>
              </a:spcBef>
              <a:spcAft>
                <a:spcPts val="800"/>
              </a:spcAft>
            </a:pPr>
            <a:r>
              <a:rPr sz="1700" b="1" i="0">
                <a:solidFill>
                  <a:srgbClr val="1B2430"/>
                </a:solidFill>
                <a:latin typeface="Segoe UI"/>
              </a:rPr>
              <a:t>Nên trong thực tế team bỏ luôn</a:t>
            </a:r>
          </a:p>
          <a:p>
            <a:pPr algn="l">
              <a:lnSpc>
                <a:spcPct val="135000"/>
              </a:lnSpc>
              <a:spcBef>
                <a:spcPts val="0"/>
              </a:spcBef>
              <a:spcAft>
                <a:spcPts val="0"/>
              </a:spcAft>
            </a:pPr>
            <a:r>
              <a:rPr sz="1350" b="0" i="0">
                <a:solidFill>
                  <a:srgbClr val="3A4452"/>
                </a:solidFill>
                <a:latin typeface="Segoe UI"/>
              </a:rPr>
              <a:t>Kỹ thuật tốt nhưng không ai dùng — vì không ai chờ nổi một lần chạy đầy đủ.</a:t>
            </a:r>
          </a:p>
        </p:txBody>
      </p:sp>
      <p:sp>
        <p:nvSpPr>
          <p:cNvPr id="10" name="Rounded Rectangle 9"/>
          <p:cNvSpPr/>
          <p:nvPr/>
        </p:nvSpPr>
        <p:spPr>
          <a:xfrm>
            <a:off x="566928" y="3950208"/>
            <a:ext cx="11057839" cy="1371600"/>
          </a:xfrm>
          <a:prstGeom prst="roundRect">
            <a:avLst>
              <a:gd name="adj" fmla="val 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82880" bIns="128016"/>
          <a:lstStyle/>
          <a:p>
            <a:pPr algn="l">
              <a:lnSpc>
                <a:spcPct val="125000"/>
              </a:lnSpc>
              <a:spcBef>
                <a:spcPts val="0"/>
              </a:spcBef>
              <a:spcAft>
                <a:spcPts val="900"/>
              </a:spcAft>
            </a:pPr>
            <a:r>
              <a:rPr sz="1200" b="1" i="0">
                <a:solidFill>
                  <a:srgbClr val="8FB6E8"/>
                </a:solidFill>
                <a:latin typeface="Segoe UI"/>
              </a:rPr>
              <a:t>CÂU HỎI THẬT CỦA DEVELOPER</a:t>
            </a:r>
          </a:p>
          <a:p>
            <a:pPr algn="l">
              <a:lnSpc>
                <a:spcPct val="115000"/>
              </a:lnSpc>
              <a:spcBef>
                <a:spcPts val="0"/>
              </a:spcBef>
              <a:spcAft>
                <a:spcPts val="0"/>
              </a:spcAft>
            </a:pPr>
            <a:r>
              <a:rPr sz="2500" b="1" i="0">
                <a:solidFill>
                  <a:srgbClr val="FFFFFF"/>
                </a:solidFill>
                <a:latin typeface="Segoe UI"/>
              </a:rPr>
              <a:t>“Tôi chỉ đủ thời gian chạy 10% số mutant. Vậy phải chọn 10% NÀO?”</a:t>
            </a:r>
          </a:p>
        </p:txBody>
      </p:sp>
      <p:sp>
        <p:nvSpPr>
          <p:cNvPr id="11" name="TextBox 10"/>
          <p:cNvSpPr txBox="1"/>
          <p:nvPr/>
        </p:nvSpPr>
        <p:spPr>
          <a:xfrm>
            <a:off x="566928" y="5532120"/>
            <a:ext cx="11057839" cy="365760"/>
          </a:xfrm>
          <a:prstGeom prst="rect">
            <a:avLst/>
          </a:prstGeom>
          <a:noFill/>
        </p:spPr>
        <p:txBody>
          <a:bodyPr wrap="square" lIns="0" rIns="0" tIns="0" bIns="0" anchor="t">
            <a:spAutoFit/>
          </a:bodyPr>
          <a:lstStyle/>
          <a:p>
            <a:pPr algn="l">
              <a:lnSpc>
                <a:spcPct val="125000"/>
              </a:lnSpc>
              <a:spcBef>
                <a:spcPts val="0"/>
              </a:spcBef>
              <a:spcAft>
                <a:spcPts val="0"/>
              </a:spcAft>
            </a:pPr>
            <a:r>
              <a:rPr sz="1400" b="0" i="1">
                <a:solidFill>
                  <a:srgbClr val="778291"/>
                </a:solidFill>
                <a:latin typeface="Segoe UI"/>
              </a:rPr>
              <a:t>Đây chính là bài toán mutant selection — cùng ngân sách, chọn khéo hay chọn bừa thì khác nhau bao nhiêu?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9503359" cy="237744"/>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GAP · RQ · GIẢ THUYẾT</a:t>
            </a:r>
          </a:p>
        </p:txBody>
      </p:sp>
      <p:sp>
        <p:nvSpPr>
          <p:cNvPr id="3" name="TextBox 2"/>
          <p:cNvSpPr txBox="1"/>
          <p:nvPr/>
        </p:nvSpPr>
        <p:spPr>
          <a:xfrm>
            <a:off x="566928" y="603504"/>
            <a:ext cx="9503359" cy="566928"/>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1B2430"/>
                </a:solidFill>
                <a:latin typeface="Segoe UI"/>
              </a:rPr>
              <a:t>LLM đã có mặt khắp mutation testing — trừ việc CHỌN</a:t>
            </a:r>
          </a:p>
        </p:txBody>
      </p:sp>
      <p:sp>
        <p:nvSpPr>
          <p:cNvPr id="4" name="Rectangle 3"/>
          <p:cNvSpPr/>
          <p:nvPr/>
        </p:nvSpPr>
        <p:spPr>
          <a:xfrm>
            <a:off x="566928" y="1243584"/>
            <a:ext cx="822960" cy="406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1727" y="329184"/>
            <a:ext cx="1463040" cy="274320"/>
          </a:xfrm>
          <a:prstGeom prst="rect">
            <a:avLst/>
          </a:prstGeom>
          <a:noFill/>
        </p:spPr>
        <p:txBody>
          <a:bodyPr wrap="square" lIns="0" rIns="0" tIns="0" bIns="0" anchor="t">
            <a:spAutoFit/>
          </a:bodyPr>
          <a:lstStyle/>
          <a:p>
            <a:pPr algn="r">
              <a:lnSpc>
                <a:spcPct val="125000"/>
              </a:lnSpc>
              <a:spcBef>
                <a:spcPts val="0"/>
              </a:spcBef>
              <a:spcAft>
                <a:spcPts val="0"/>
              </a:spcAft>
            </a:pPr>
            <a:r>
              <a:rPr sz="1200" b="1" i="0">
                <a:solidFill>
                  <a:srgbClr val="778291"/>
                </a:solidFill>
                <a:latin typeface="Segoe UI"/>
              </a:rPr>
              <a:t>1,5 phút</a:t>
            </a:r>
          </a:p>
        </p:txBody>
      </p:sp>
      <p:sp>
        <p:nvSpPr>
          <p:cNvPr id="6" name="TextBox 5"/>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3/9</a:t>
            </a:r>
          </a:p>
        </p:txBody>
      </p:sp>
      <p:sp>
        <p:nvSpPr>
          <p:cNvPr id="7" name="Rounded Rectangle 6"/>
          <p:cNvSpPr/>
          <p:nvPr/>
        </p:nvSpPr>
        <p:spPr>
          <a:xfrm>
            <a:off x="566928" y="1691640"/>
            <a:ext cx="5943600" cy="420624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1100"/>
              </a:spcAft>
            </a:pPr>
            <a:r>
              <a:rPr sz="1150" b="1" i="0">
                <a:solidFill>
                  <a:srgbClr val="1F5FA8"/>
                </a:solidFill>
                <a:latin typeface="Segoe UI"/>
              </a:rPr>
              <a:t>RESEARCH GAP</a:t>
            </a:r>
          </a:p>
          <a:p>
            <a:pPr algn="l">
              <a:lnSpc>
                <a:spcPct val="125000"/>
              </a:lnSpc>
              <a:spcBef>
                <a:spcPts val="0"/>
              </a:spcBef>
              <a:spcAft>
                <a:spcPts val="800"/>
              </a:spcAft>
            </a:pPr>
            <a:r>
              <a:rPr sz="1450" b="1" i="0">
                <a:solidFill>
                  <a:srgbClr val="1B2430"/>
                </a:solidFill>
                <a:latin typeface="Segoe UI"/>
              </a:rPr>
              <a:t>LLM trong mutation testing đã làm 3 việc:</a:t>
            </a:r>
          </a:p>
          <a:p>
            <a:pPr algn="l">
              <a:lnSpc>
                <a:spcPct val="125000"/>
              </a:lnSpc>
              <a:spcBef>
                <a:spcPts val="0"/>
              </a:spcBef>
              <a:spcAft>
                <a:spcPts val="600"/>
              </a:spcAft>
            </a:pPr>
            <a:r>
              <a:rPr sz="1400" b="1" i="0">
                <a:solidFill>
                  <a:srgbClr val="E8873A"/>
                </a:solidFill>
                <a:latin typeface="Segoe UI"/>
              </a:rPr>
              <a:t>•  </a:t>
            </a:r>
            <a:r>
              <a:rPr sz="1400" b="1" i="0">
                <a:solidFill>
                  <a:srgbClr val="1B2430"/>
                </a:solidFill>
                <a:latin typeface="Segoe UI"/>
              </a:rPr>
              <a:t>SINH mutant</a:t>
            </a:r>
            <a:r>
              <a:rPr sz="1400" b="0" i="0">
                <a:solidFill>
                  <a:srgbClr val="3A4452"/>
                </a:solidFill>
                <a:latin typeface="Segoe UI"/>
              </a:rPr>
              <a:t> — Wang 2025, SMART 2026, LLMorpheus</a:t>
            </a:r>
          </a:p>
          <a:p>
            <a:pPr algn="l">
              <a:lnSpc>
                <a:spcPct val="125000"/>
              </a:lnSpc>
              <a:spcBef>
                <a:spcPts val="0"/>
              </a:spcBef>
              <a:spcAft>
                <a:spcPts val="600"/>
              </a:spcAft>
            </a:pPr>
            <a:r>
              <a:rPr sz="1400" b="1" i="0">
                <a:solidFill>
                  <a:srgbClr val="E8873A"/>
                </a:solidFill>
                <a:latin typeface="Segoe UI"/>
              </a:rPr>
              <a:t>•  </a:t>
            </a:r>
            <a:r>
              <a:rPr sz="1400" b="1" i="0">
                <a:solidFill>
                  <a:srgbClr val="1B2430"/>
                </a:solidFill>
                <a:latin typeface="Segoe UI"/>
              </a:rPr>
              <a:t>LỌC equivalent mutant</a:t>
            </a:r>
            <a:r>
              <a:rPr sz="1400" b="0" i="0">
                <a:solidFill>
                  <a:srgbClr val="3A4452"/>
                </a:solidFill>
                <a:latin typeface="Segoe UI"/>
              </a:rPr>
              <a:t> — GEM-LLM (precision 98%)</a:t>
            </a:r>
          </a:p>
          <a:p>
            <a:pPr algn="l">
              <a:lnSpc>
                <a:spcPct val="125000"/>
              </a:lnSpc>
              <a:spcBef>
                <a:spcPts val="0"/>
              </a:spcBef>
              <a:spcAft>
                <a:spcPts val="600"/>
              </a:spcAft>
            </a:pPr>
            <a:r>
              <a:rPr sz="1400" b="1" i="0">
                <a:solidFill>
                  <a:srgbClr val="E8873A"/>
                </a:solidFill>
                <a:latin typeface="Segoe UI"/>
              </a:rPr>
              <a:t>•  </a:t>
            </a:r>
            <a:r>
              <a:rPr sz="1400" b="1" i="0">
                <a:solidFill>
                  <a:srgbClr val="1B2430"/>
                </a:solidFill>
                <a:latin typeface="Segoe UI"/>
              </a:rPr>
              <a:t>SINH test từ mutant</a:t>
            </a:r>
            <a:r>
              <a:rPr sz="1400" b="0" i="0">
                <a:solidFill>
                  <a:srgbClr val="3A4452"/>
                </a:solidFill>
                <a:latin typeface="Segoe UI"/>
              </a:rPr>
              <a:t> — MuTAP, MUTGEN</a:t>
            </a:r>
          </a:p>
          <a:p>
            <a:pPr algn="l">
              <a:lnSpc>
                <a:spcPct val="130000"/>
              </a:lnSpc>
              <a:spcBef>
                <a:spcPts val="1000"/>
              </a:spcBef>
              <a:spcAft>
                <a:spcPts val="1100"/>
              </a:spcAft>
            </a:pPr>
            <a:r>
              <a:rPr sz="1500" b="1" i="0">
                <a:solidFill>
                  <a:srgbClr val="E8873A"/>
                </a:solidFill>
                <a:latin typeface="Segoe UI"/>
              </a:rPr>
              <a:t>Chưa ai dùng LLM để CHỌN mutant từ một pool có sẵn, rồi so trực tiếp với random cùng ngân sách.</a:t>
            </a:r>
          </a:p>
          <a:p>
            <a:pPr algn="l">
              <a:lnSpc>
                <a:spcPct val="125000"/>
              </a:lnSpc>
              <a:spcBef>
                <a:spcPts val="0"/>
              </a:spcBef>
              <a:spcAft>
                <a:spcPts val="500"/>
              </a:spcAft>
            </a:pPr>
            <a:r>
              <a:rPr sz="1350" b="1" i="0">
                <a:solidFill>
                  <a:srgbClr val="1B2430"/>
                </a:solidFill>
                <a:latin typeface="Segoe UI"/>
              </a:rPr>
              <a:t>Nghiên cứu gần nhất — Jimenez et al. (2018)</a:t>
            </a:r>
          </a:p>
          <a:p>
            <a:pPr algn="l">
              <a:lnSpc>
                <a:spcPct val="130000"/>
              </a:lnSpc>
              <a:spcBef>
                <a:spcPts val="0"/>
              </a:spcBef>
              <a:spcAft>
                <a:spcPts val="700"/>
              </a:spcAft>
            </a:pPr>
            <a:r>
              <a:rPr sz="1300" b="0" i="0">
                <a:solidFill>
                  <a:srgbClr val="3A4452"/>
                </a:solidFill>
                <a:latin typeface="Segoe UI"/>
              </a:rPr>
              <a:t>So n-gram naturalness với random trên 5 project Defects4J → A₁₂ ≈ 0.57 (small): xếp hạng bằng language model KHÔNG hơn random một cách có ý nghĩa thực tế.</a:t>
            </a:r>
          </a:p>
          <a:p>
            <a:pPr algn="l">
              <a:lnSpc>
                <a:spcPct val="130000"/>
              </a:lnSpc>
              <a:spcBef>
                <a:spcPts val="0"/>
              </a:spcBef>
              <a:spcAft>
                <a:spcPts val="0"/>
              </a:spcAft>
            </a:pPr>
            <a:r>
              <a:rPr sz="1300" b="0" i="1">
                <a:solidFill>
                  <a:srgbClr val="778291"/>
                </a:solidFill>
                <a:latin typeface="Segoe UI"/>
              </a:rPr>
              <a:t>Câu hỏi bỏ ngỏ: LLM hiện đại có làm tốt hơn n-gram ở đúng vai trò đó không?</a:t>
            </a:r>
          </a:p>
        </p:txBody>
      </p:sp>
      <p:sp>
        <p:nvSpPr>
          <p:cNvPr id="8" name="Rounded Rectangle 7"/>
          <p:cNvSpPr/>
          <p:nvPr/>
        </p:nvSpPr>
        <p:spPr>
          <a:xfrm>
            <a:off x="6784848" y="1691640"/>
            <a:ext cx="4839919" cy="1783080"/>
          </a:xfrm>
          <a:prstGeom prst="roundRect">
            <a:avLst>
              <a:gd name="adj" fmla="val 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900"/>
              </a:spcAft>
            </a:pPr>
            <a:r>
              <a:rPr sz="1200" b="1" i="0">
                <a:solidFill>
                  <a:srgbClr val="8FB6E8"/>
                </a:solidFill>
                <a:latin typeface="Segoe UI"/>
              </a:rPr>
              <a:t>RQ1</a:t>
            </a:r>
          </a:p>
          <a:p>
            <a:pPr algn="l">
              <a:lnSpc>
                <a:spcPct val="130000"/>
              </a:lnSpc>
              <a:spcBef>
                <a:spcPts val="0"/>
              </a:spcBef>
              <a:spcAft>
                <a:spcPts val="0"/>
              </a:spcAft>
            </a:pPr>
            <a:r>
              <a:rPr sz="1450" b="1" i="0">
                <a:solidFill>
                  <a:srgbClr val="FFFFFF"/>
                </a:solidFill>
                <a:latin typeface="Segoe UI"/>
              </a:rPr>
              <a:t>Trên các project Java của Defects4J, GPT-4o-mini chọn mutant có đạt mutation score cao hơn random fixed-seed không, khi cả hai cùng chọn top 10%?</a:t>
            </a:r>
          </a:p>
        </p:txBody>
      </p:sp>
      <p:sp>
        <p:nvSpPr>
          <p:cNvPr id="9" name="Rounded Rectangle 8"/>
          <p:cNvSpPr/>
          <p:nvPr/>
        </p:nvSpPr>
        <p:spPr>
          <a:xfrm>
            <a:off x="6784848" y="3685032"/>
            <a:ext cx="4839919" cy="2212848"/>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1100"/>
              </a:spcAft>
            </a:pPr>
            <a:r>
              <a:rPr sz="1150" b="1" i="0">
                <a:solidFill>
                  <a:srgbClr val="1F5FA8"/>
                </a:solidFill>
                <a:latin typeface="Segoe UI"/>
              </a:rPr>
              <a:t>GIẢ THUYẾT — CHỐT TRƯỚC KHI CHẠY</a:t>
            </a:r>
          </a:p>
          <a:p>
            <a:pPr algn="l">
              <a:lnSpc>
                <a:spcPct val="125000"/>
              </a:lnSpc>
              <a:spcBef>
                <a:spcPts val="0"/>
              </a:spcBef>
              <a:spcAft>
                <a:spcPts val="900"/>
              </a:spcAft>
            </a:pPr>
            <a:r>
              <a:rPr sz="1700" b="1" i="0">
                <a:solidFill>
                  <a:srgbClr val="1B2430"/>
                </a:solidFill>
                <a:latin typeface="Segoe UI"/>
              </a:rPr>
              <a:t>H0:  </a:t>
            </a:r>
            <a:r>
              <a:rPr sz="1700" b="0" i="0">
                <a:solidFill>
                  <a:srgbClr val="3A4452"/>
                </a:solidFill>
                <a:latin typeface="Consolas"/>
              </a:rPr>
              <a:t>MS_GPT  ≤  MS_random</a:t>
            </a:r>
          </a:p>
          <a:p>
            <a:pPr algn="l">
              <a:lnSpc>
                <a:spcPct val="125000"/>
              </a:lnSpc>
              <a:spcBef>
                <a:spcPts val="0"/>
              </a:spcBef>
              <a:spcAft>
                <a:spcPts val="1500"/>
              </a:spcAft>
            </a:pPr>
            <a:r>
              <a:rPr sz="1700" b="1" i="0">
                <a:solidFill>
                  <a:srgbClr val="1F5FA8"/>
                </a:solidFill>
                <a:latin typeface="Segoe UI"/>
              </a:rPr>
              <a:t>H1:  </a:t>
            </a:r>
            <a:r>
              <a:rPr sz="1700" b="1" i="0">
                <a:solidFill>
                  <a:srgbClr val="1F5FA8"/>
                </a:solidFill>
                <a:latin typeface="Consolas"/>
              </a:rPr>
              <a:t>MS_GPT  &gt;  MS_random</a:t>
            </a:r>
          </a:p>
          <a:p>
            <a:pPr algn="l">
              <a:lnSpc>
                <a:spcPct val="125000"/>
              </a:lnSpc>
              <a:spcBef>
                <a:spcPts val="0"/>
              </a:spcBef>
              <a:spcAft>
                <a:spcPts val="700"/>
              </a:spcAft>
            </a:pPr>
            <a:r>
              <a:rPr sz="1250" b="1" i="0">
                <a:solidFill>
                  <a:srgbClr val="778291"/>
                </a:solidFill>
                <a:latin typeface="Segoe UI"/>
              </a:rPr>
              <a:t>Tiêu chí thành công (pre-registered)</a:t>
            </a:r>
          </a:p>
          <a:p>
            <a:pPr algn="l">
              <a:lnSpc>
                <a:spcPct val="125000"/>
              </a:lnSpc>
              <a:spcBef>
                <a:spcPts val="0"/>
              </a:spcBef>
              <a:spcAft>
                <a:spcPts val="0"/>
              </a:spcAft>
            </a:pPr>
            <a:r>
              <a:rPr sz="1600" b="1" i="0">
                <a:solidFill>
                  <a:srgbClr val="1B2430"/>
                </a:solidFill>
                <a:latin typeface="Segoe UI"/>
              </a:rPr>
              <a:t>p &lt; 0.05</a:t>
            </a:r>
            <a:r>
              <a:rPr sz="1300" b="0" i="0">
                <a:solidFill>
                  <a:srgbClr val="778291"/>
                </a:solidFill>
                <a:latin typeface="Segoe UI"/>
              </a:rPr>
              <a:t>   VÀ   </a:t>
            </a:r>
            <a:r>
              <a:rPr sz="1600" b="1" i="0">
                <a:solidFill>
                  <a:srgbClr val="1B2430"/>
                </a:solidFill>
                <a:latin typeface="Segoe UI"/>
              </a:rPr>
              <a:t>r_rb ≥ 0.30</a:t>
            </a:r>
            <a:r>
              <a:rPr sz="1300" b="0" i="0">
                <a:solidFill>
                  <a:srgbClr val="778291"/>
                </a:solidFill>
                <a:latin typeface="Segoe UI"/>
              </a:rPr>
              <a:t>  (medium)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9503359" cy="237744"/>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DATASET &amp; PIPELINE</a:t>
            </a:r>
          </a:p>
        </p:txBody>
      </p:sp>
      <p:sp>
        <p:nvSpPr>
          <p:cNvPr id="3" name="TextBox 2"/>
          <p:cNvSpPr txBox="1"/>
          <p:nvPr/>
        </p:nvSpPr>
        <p:spPr>
          <a:xfrm>
            <a:off x="566928" y="603504"/>
            <a:ext cx="9503359" cy="566928"/>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1B2430"/>
                </a:solidFill>
                <a:latin typeface="Segoe UI"/>
              </a:rPr>
              <a:t>Cùng một pool, cùng một ngân sách — chỉ khác cách chọn</a:t>
            </a:r>
          </a:p>
        </p:txBody>
      </p:sp>
      <p:sp>
        <p:nvSpPr>
          <p:cNvPr id="4" name="Rectangle 3"/>
          <p:cNvSpPr/>
          <p:nvPr/>
        </p:nvSpPr>
        <p:spPr>
          <a:xfrm>
            <a:off x="566928" y="1243584"/>
            <a:ext cx="822960" cy="406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1727" y="329184"/>
            <a:ext cx="1463040" cy="274320"/>
          </a:xfrm>
          <a:prstGeom prst="rect">
            <a:avLst/>
          </a:prstGeom>
          <a:noFill/>
        </p:spPr>
        <p:txBody>
          <a:bodyPr wrap="square" lIns="0" rIns="0" tIns="0" bIns="0" anchor="t">
            <a:spAutoFit/>
          </a:bodyPr>
          <a:lstStyle/>
          <a:p>
            <a:pPr algn="r">
              <a:lnSpc>
                <a:spcPct val="125000"/>
              </a:lnSpc>
              <a:spcBef>
                <a:spcPts val="0"/>
              </a:spcBef>
              <a:spcAft>
                <a:spcPts val="0"/>
              </a:spcAft>
            </a:pPr>
            <a:r>
              <a:rPr sz="1200" b="1" i="0">
                <a:solidFill>
                  <a:srgbClr val="778291"/>
                </a:solidFill>
                <a:latin typeface="Segoe UI"/>
              </a:rPr>
              <a:t>1,5 phút</a:t>
            </a:r>
          </a:p>
        </p:txBody>
      </p:sp>
      <p:sp>
        <p:nvSpPr>
          <p:cNvPr id="6" name="TextBox 5"/>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4/9</a:t>
            </a:r>
          </a:p>
        </p:txBody>
      </p:sp>
      <p:sp>
        <p:nvSpPr>
          <p:cNvPr id="7" name="Rounded Rectangle 6"/>
          <p:cNvSpPr/>
          <p:nvPr/>
        </p:nvSpPr>
        <p:spPr>
          <a:xfrm>
            <a:off x="566928" y="1645920"/>
            <a:ext cx="11057839" cy="1060704"/>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ctr"/>
          </a:p>
        </p:txBody>
      </p:sp>
      <p:sp>
        <p:nvSpPr>
          <p:cNvPr id="8" name="TextBox 7"/>
          <p:cNvSpPr txBox="1"/>
          <p:nvPr/>
        </p:nvSpPr>
        <p:spPr>
          <a:xfrm>
            <a:off x="749808" y="1773936"/>
            <a:ext cx="1900671" cy="822960"/>
          </a:xfrm>
          <a:prstGeom prst="rect">
            <a:avLst/>
          </a:prstGeom>
          <a:noFill/>
        </p:spPr>
        <p:txBody>
          <a:bodyPr wrap="square" lIns="0" rIns="0" tIns="0" bIns="0" anchor="t">
            <a:spAutoFit/>
          </a:bodyPr>
          <a:lstStyle/>
          <a:p>
            <a:pPr algn="l">
              <a:lnSpc>
                <a:spcPct val="100000"/>
              </a:lnSpc>
              <a:spcBef>
                <a:spcPts val="0"/>
              </a:spcBef>
              <a:spcAft>
                <a:spcPts val="100"/>
              </a:spcAft>
            </a:pPr>
            <a:r>
              <a:rPr sz="2300" b="1" i="0">
                <a:solidFill>
                  <a:srgbClr val="1F5FA8"/>
                </a:solidFill>
                <a:latin typeface="Segoe UI"/>
              </a:rPr>
              <a:t>3</a:t>
            </a:r>
          </a:p>
          <a:p>
            <a:pPr algn="l">
              <a:lnSpc>
                <a:spcPct val="115000"/>
              </a:lnSpc>
              <a:spcBef>
                <a:spcPts val="0"/>
              </a:spcBef>
              <a:spcAft>
                <a:spcPts val="0"/>
              </a:spcAft>
            </a:pPr>
            <a:r>
              <a:rPr sz="1050" b="0" i="0">
                <a:solidFill>
                  <a:srgbClr val="3A4452"/>
                </a:solidFill>
                <a:latin typeface="Segoe UI"/>
              </a:rPr>
              <a:t>project Defects4J</a:t>
            </a:r>
          </a:p>
          <a:p>
            <a:pPr algn="l">
              <a:lnSpc>
                <a:spcPct val="115000"/>
              </a:lnSpc>
              <a:spcBef>
                <a:spcPts val="0"/>
              </a:spcBef>
              <a:spcAft>
                <a:spcPts val="0"/>
              </a:spcAft>
            </a:pPr>
            <a:r>
              <a:rPr sz="1050" b="0" i="0">
                <a:solidFill>
                  <a:srgbClr val="778291"/>
                </a:solidFill>
                <a:latin typeface="Segoe UI"/>
              </a:rPr>
              <a:t>Codec · CSV · JacksonCore</a:t>
            </a:r>
          </a:p>
        </p:txBody>
      </p:sp>
      <p:sp>
        <p:nvSpPr>
          <p:cNvPr id="9" name="TextBox 8"/>
          <p:cNvSpPr txBox="1"/>
          <p:nvPr/>
        </p:nvSpPr>
        <p:spPr>
          <a:xfrm>
            <a:off x="2961375" y="1773936"/>
            <a:ext cx="1900671" cy="822960"/>
          </a:xfrm>
          <a:prstGeom prst="rect">
            <a:avLst/>
          </a:prstGeom>
          <a:noFill/>
        </p:spPr>
        <p:txBody>
          <a:bodyPr wrap="square" lIns="0" rIns="0" tIns="0" bIns="0" anchor="t">
            <a:spAutoFit/>
          </a:bodyPr>
          <a:lstStyle/>
          <a:p>
            <a:pPr algn="l">
              <a:lnSpc>
                <a:spcPct val="100000"/>
              </a:lnSpc>
              <a:spcBef>
                <a:spcPts val="0"/>
              </a:spcBef>
              <a:spcAft>
                <a:spcPts val="100"/>
              </a:spcAft>
            </a:pPr>
            <a:r>
              <a:rPr sz="2300" b="1" i="0">
                <a:solidFill>
                  <a:srgbClr val="1F5FA8"/>
                </a:solidFill>
                <a:latin typeface="Segoe UI"/>
              </a:rPr>
              <a:t>10</a:t>
            </a:r>
          </a:p>
          <a:p>
            <a:pPr algn="l">
              <a:lnSpc>
                <a:spcPct val="115000"/>
              </a:lnSpc>
              <a:spcBef>
                <a:spcPts val="0"/>
              </a:spcBef>
              <a:spcAft>
                <a:spcPts val="0"/>
              </a:spcAft>
            </a:pPr>
            <a:r>
              <a:rPr sz="1050" b="0" i="0">
                <a:solidFill>
                  <a:srgbClr val="3A4452"/>
                </a:solidFill>
                <a:latin typeface="Segoe UI"/>
              </a:rPr>
              <a:t>version mỗi project</a:t>
            </a:r>
          </a:p>
          <a:p>
            <a:pPr algn="l">
              <a:lnSpc>
                <a:spcPct val="115000"/>
              </a:lnSpc>
              <a:spcBef>
                <a:spcPts val="0"/>
              </a:spcBef>
              <a:spcAft>
                <a:spcPts val="0"/>
              </a:spcAft>
            </a:pPr>
            <a:r>
              <a:rPr sz="1050" b="0" i="0">
                <a:solidFill>
                  <a:srgbClr val="778291"/>
                </a:solidFill>
                <a:latin typeface="Segoe UI"/>
              </a:rPr>
              <a:t>1f – 10f</a:t>
            </a:r>
          </a:p>
        </p:txBody>
      </p:sp>
      <p:sp>
        <p:nvSpPr>
          <p:cNvPr id="10" name="Rectangle 9"/>
          <p:cNvSpPr/>
          <p:nvPr/>
        </p:nvSpPr>
        <p:spPr>
          <a:xfrm>
            <a:off x="2778495" y="1810512"/>
            <a:ext cx="12700" cy="73152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2943" y="1773936"/>
            <a:ext cx="1900671" cy="822960"/>
          </a:xfrm>
          <a:prstGeom prst="rect">
            <a:avLst/>
          </a:prstGeom>
          <a:noFill/>
        </p:spPr>
        <p:txBody>
          <a:bodyPr wrap="square" lIns="0" rIns="0" tIns="0" bIns="0" anchor="t">
            <a:spAutoFit/>
          </a:bodyPr>
          <a:lstStyle/>
          <a:p>
            <a:pPr algn="l">
              <a:lnSpc>
                <a:spcPct val="100000"/>
              </a:lnSpc>
              <a:spcBef>
                <a:spcPts val="0"/>
              </a:spcBef>
              <a:spcAft>
                <a:spcPts val="100"/>
              </a:spcAft>
            </a:pPr>
            <a:r>
              <a:rPr sz="2300" b="1" i="0">
                <a:solidFill>
                  <a:srgbClr val="1F5FA8"/>
                </a:solidFill>
                <a:latin typeface="Segoe UI"/>
              </a:rPr>
              <a:t>20</a:t>
            </a:r>
          </a:p>
          <a:p>
            <a:pPr algn="l">
              <a:lnSpc>
                <a:spcPct val="115000"/>
              </a:lnSpc>
              <a:spcBef>
                <a:spcPts val="0"/>
              </a:spcBef>
              <a:spcAft>
                <a:spcPts val="0"/>
              </a:spcAft>
            </a:pPr>
            <a:r>
              <a:rPr sz="1050" b="0" i="0">
                <a:solidFill>
                  <a:srgbClr val="3A4452"/>
                </a:solidFill>
                <a:latin typeface="Segoe UI"/>
              </a:rPr>
              <a:t>class được PIT mutate</a:t>
            </a:r>
          </a:p>
          <a:p>
            <a:pPr algn="l">
              <a:lnSpc>
                <a:spcPct val="115000"/>
              </a:lnSpc>
              <a:spcBef>
                <a:spcPts val="0"/>
              </a:spcBef>
              <a:spcAft>
                <a:spcPts val="0"/>
              </a:spcAft>
            </a:pPr>
            <a:r>
              <a:rPr sz="1050" b="0" i="0">
                <a:solidFill>
                  <a:srgbClr val="778291"/>
                </a:solidFill>
                <a:latin typeface="Segoe UI"/>
              </a:rPr>
              <a:t>(pitest 1.15.8)</a:t>
            </a:r>
          </a:p>
        </p:txBody>
      </p:sp>
      <p:sp>
        <p:nvSpPr>
          <p:cNvPr id="12" name="Rectangle 11"/>
          <p:cNvSpPr/>
          <p:nvPr/>
        </p:nvSpPr>
        <p:spPr>
          <a:xfrm>
            <a:off x="4990063" y="1810512"/>
            <a:ext cx="12700" cy="73152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84511" y="1773936"/>
            <a:ext cx="1900671" cy="822960"/>
          </a:xfrm>
          <a:prstGeom prst="rect">
            <a:avLst/>
          </a:prstGeom>
          <a:noFill/>
        </p:spPr>
        <p:txBody>
          <a:bodyPr wrap="square" lIns="0" rIns="0" tIns="0" bIns="0" anchor="t">
            <a:spAutoFit/>
          </a:bodyPr>
          <a:lstStyle/>
          <a:p>
            <a:pPr algn="l">
              <a:lnSpc>
                <a:spcPct val="100000"/>
              </a:lnSpc>
              <a:spcBef>
                <a:spcPts val="0"/>
              </a:spcBef>
              <a:spcAft>
                <a:spcPts val="100"/>
              </a:spcAft>
            </a:pPr>
            <a:r>
              <a:rPr sz="2300" b="1" i="0">
                <a:solidFill>
                  <a:srgbClr val="1F5FA8"/>
                </a:solidFill>
                <a:latin typeface="Segoe UI"/>
              </a:rPr>
              <a:t>11,040</a:t>
            </a:r>
          </a:p>
          <a:p>
            <a:pPr algn="l">
              <a:lnSpc>
                <a:spcPct val="115000"/>
              </a:lnSpc>
              <a:spcBef>
                <a:spcPts val="0"/>
              </a:spcBef>
              <a:spcAft>
                <a:spcPts val="0"/>
              </a:spcAft>
            </a:pPr>
            <a:r>
              <a:rPr sz="1050" b="0" i="0">
                <a:solidFill>
                  <a:srgbClr val="3A4452"/>
                </a:solidFill>
                <a:latin typeface="Segoe UI"/>
              </a:rPr>
              <a:t>PIT mutants</a:t>
            </a:r>
          </a:p>
          <a:p>
            <a:pPr algn="l">
              <a:lnSpc>
                <a:spcPct val="115000"/>
              </a:lnSpc>
              <a:spcBef>
                <a:spcPts val="0"/>
              </a:spcBef>
              <a:spcAft>
                <a:spcPts val="0"/>
              </a:spcAft>
            </a:pPr>
            <a:r>
              <a:rPr sz="1050" b="0" i="0">
                <a:solidFill>
                  <a:srgbClr val="778291"/>
                </a:solidFill>
                <a:latin typeface="Segoe UI"/>
              </a:rPr>
              <a:t>= pool dùng chung</a:t>
            </a:r>
          </a:p>
        </p:txBody>
      </p:sp>
      <p:sp>
        <p:nvSpPr>
          <p:cNvPr id="14" name="Rectangle 13"/>
          <p:cNvSpPr/>
          <p:nvPr/>
        </p:nvSpPr>
        <p:spPr>
          <a:xfrm>
            <a:off x="7201631" y="1810512"/>
            <a:ext cx="12700" cy="73152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96079" y="1773936"/>
            <a:ext cx="1900671" cy="822960"/>
          </a:xfrm>
          <a:prstGeom prst="rect">
            <a:avLst/>
          </a:prstGeom>
          <a:noFill/>
        </p:spPr>
        <p:txBody>
          <a:bodyPr wrap="square" lIns="0" rIns="0" tIns="0" bIns="0" anchor="t">
            <a:spAutoFit/>
          </a:bodyPr>
          <a:lstStyle/>
          <a:p>
            <a:pPr algn="l">
              <a:lnSpc>
                <a:spcPct val="100000"/>
              </a:lnSpc>
              <a:spcBef>
                <a:spcPts val="0"/>
              </a:spcBef>
              <a:spcAft>
                <a:spcPts val="100"/>
              </a:spcAft>
            </a:pPr>
            <a:r>
              <a:rPr sz="2300" b="1" i="0">
                <a:solidFill>
                  <a:srgbClr val="1F5FA8"/>
                </a:solidFill>
                <a:latin typeface="Segoe UI"/>
              </a:rPr>
              <a:t>37</a:t>
            </a:r>
          </a:p>
          <a:p>
            <a:pPr algn="l">
              <a:lnSpc>
                <a:spcPct val="115000"/>
              </a:lnSpc>
              <a:spcBef>
                <a:spcPts val="0"/>
              </a:spcBef>
              <a:spcAft>
                <a:spcPts val="0"/>
              </a:spcAft>
            </a:pPr>
            <a:r>
              <a:rPr sz="1050" b="0" i="0">
                <a:solidFill>
                  <a:srgbClr val="3A4452"/>
                </a:solidFill>
                <a:latin typeface="Segoe UI"/>
              </a:rPr>
              <a:t>group (project, version, class)</a:t>
            </a:r>
          </a:p>
          <a:p>
            <a:pPr algn="l">
              <a:lnSpc>
                <a:spcPct val="115000"/>
              </a:lnSpc>
              <a:spcBef>
                <a:spcPts val="0"/>
              </a:spcBef>
              <a:spcAft>
                <a:spcPts val="0"/>
              </a:spcAft>
            </a:pPr>
            <a:r>
              <a:rPr sz="1050" b="0" i="0">
                <a:solidFill>
                  <a:srgbClr val="778291"/>
                </a:solidFill>
                <a:latin typeface="Segoe UI"/>
              </a:rPr>
              <a:t>= đơn vị ghép cặp</a:t>
            </a:r>
          </a:p>
        </p:txBody>
      </p:sp>
      <p:sp>
        <p:nvSpPr>
          <p:cNvPr id="16" name="Rectangle 15"/>
          <p:cNvSpPr/>
          <p:nvPr/>
        </p:nvSpPr>
        <p:spPr>
          <a:xfrm>
            <a:off x="9413199" y="1810512"/>
            <a:ext cx="12700" cy="73152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474720"/>
            <a:ext cx="1956816" cy="1115568"/>
          </a:xfrm>
          <a:prstGeom prst="roundRect">
            <a:avLst>
              <a:gd name="adj" fmla="val 5000"/>
            </a:avLst>
          </a:prstGeom>
          <a:solidFill>
            <a:srgbClr val="FFFFFF"/>
          </a:solidFill>
          <a:ln w="22225">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lnSpc>
                <a:spcPct val="110000"/>
              </a:lnSpc>
              <a:spcBef>
                <a:spcPts val="0"/>
              </a:spcBef>
              <a:spcAft>
                <a:spcPts val="300"/>
              </a:spcAft>
            </a:pPr>
            <a:r>
              <a:rPr sz="1200" b="1" i="0">
                <a:solidFill>
                  <a:srgbClr val="1B2430"/>
                </a:solidFill>
                <a:latin typeface="Segoe UI"/>
              </a:rPr>
              <a:t>① Mutant pool</a:t>
            </a:r>
          </a:p>
          <a:p>
            <a:pPr algn="ctr">
              <a:lnSpc>
                <a:spcPct val="115000"/>
              </a:lnSpc>
              <a:spcBef>
                <a:spcPts val="0"/>
              </a:spcBef>
              <a:spcAft>
                <a:spcPts val="100"/>
              </a:spcAft>
            </a:pPr>
            <a:r>
              <a:rPr sz="1000" b="0" i="0">
                <a:solidFill>
                  <a:srgbClr val="3A4452"/>
                </a:solidFill>
                <a:latin typeface="Segoe UI"/>
              </a:rPr>
              <a:t>11,040 mutant hợp lệ</a:t>
            </a:r>
          </a:p>
          <a:p>
            <a:pPr algn="ctr">
              <a:lnSpc>
                <a:spcPct val="115000"/>
              </a:lnSpc>
              <a:spcBef>
                <a:spcPts val="0"/>
              </a:spcBef>
              <a:spcAft>
                <a:spcPts val="100"/>
              </a:spcAft>
            </a:pPr>
            <a:r>
              <a:rPr sz="1000" b="0" i="0">
                <a:solidFill>
                  <a:srgbClr val="3A4452"/>
                </a:solidFill>
                <a:latin typeface="Segoe UI"/>
              </a:rPr>
              <a:t>do PIT sinh</a:t>
            </a:r>
          </a:p>
          <a:p>
            <a:pPr algn="ctr">
              <a:lnSpc>
                <a:spcPct val="115000"/>
              </a:lnSpc>
              <a:spcBef>
                <a:spcPts val="0"/>
              </a:spcBef>
              <a:spcAft>
                <a:spcPts val="100"/>
              </a:spcAft>
            </a:pPr>
            <a:r>
              <a:rPr sz="1000" b="0" i="0">
                <a:solidFill>
                  <a:srgbClr val="3A4452"/>
                </a:solidFill>
                <a:latin typeface="Segoe UI"/>
              </a:rPr>
              <a:t>+ ground truth</a:t>
            </a:r>
          </a:p>
          <a:p>
            <a:pPr algn="ctr">
              <a:lnSpc>
                <a:spcPct val="115000"/>
              </a:lnSpc>
              <a:spcBef>
                <a:spcPts val="0"/>
              </a:spcBef>
              <a:spcAft>
                <a:spcPts val="100"/>
              </a:spcAft>
            </a:pPr>
            <a:r>
              <a:rPr sz="1000" b="0" i="0">
                <a:solidFill>
                  <a:srgbClr val="3A4452"/>
                </a:solidFill>
                <a:latin typeface="Segoe UI"/>
              </a:rPr>
              <a:t>KILLED / SURVIVED</a:t>
            </a:r>
          </a:p>
        </p:txBody>
      </p:sp>
      <p:sp>
        <p:nvSpPr>
          <p:cNvPr id="18" name="Rounded Rectangle 17"/>
          <p:cNvSpPr/>
          <p:nvPr/>
        </p:nvSpPr>
        <p:spPr>
          <a:xfrm>
            <a:off x="2852928" y="2944368"/>
            <a:ext cx="1956816" cy="932688"/>
          </a:xfrm>
          <a:prstGeom prst="roundRect">
            <a:avLst>
              <a:gd name="adj" fmla="val 5000"/>
            </a:avLst>
          </a:prstGeom>
          <a:solidFill>
            <a:srgbClr val="FFFFFF"/>
          </a:solidFill>
          <a:ln w="222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lnSpc>
                <a:spcPct val="110000"/>
              </a:lnSpc>
              <a:spcBef>
                <a:spcPts val="0"/>
              </a:spcBef>
              <a:spcAft>
                <a:spcPts val="300"/>
              </a:spcAft>
            </a:pPr>
            <a:r>
              <a:rPr sz="1200" b="1" i="0">
                <a:solidFill>
                  <a:srgbClr val="1F5FA8"/>
                </a:solidFill>
                <a:latin typeface="Segoe UI"/>
              </a:rPr>
              <a:t>② GPT-4o-mini</a:t>
            </a:r>
          </a:p>
          <a:p>
            <a:pPr algn="ctr">
              <a:lnSpc>
                <a:spcPct val="115000"/>
              </a:lnSpc>
              <a:spcBef>
                <a:spcPts val="0"/>
              </a:spcBef>
              <a:spcAft>
                <a:spcPts val="100"/>
              </a:spcAft>
            </a:pPr>
            <a:r>
              <a:rPr sz="1000" b="0" i="0">
                <a:solidFill>
                  <a:srgbClr val="3A4452"/>
                </a:solidFill>
                <a:latin typeface="Segoe UI"/>
              </a:rPr>
              <a:t>chấm điểm 1–5</a:t>
            </a:r>
          </a:p>
          <a:p>
            <a:pPr algn="ctr">
              <a:lnSpc>
                <a:spcPct val="115000"/>
              </a:lnSpc>
              <a:spcBef>
                <a:spcPts val="0"/>
              </a:spcBef>
              <a:spcAft>
                <a:spcPts val="100"/>
              </a:spcAft>
            </a:pPr>
            <a:r>
              <a:rPr sz="1000" b="0" i="0">
                <a:solidFill>
                  <a:srgbClr val="3A4452"/>
                </a:solidFill>
                <a:latin typeface="Segoe UI"/>
              </a:rPr>
              <a:t>temperature = 0</a:t>
            </a:r>
          </a:p>
          <a:p>
            <a:pPr algn="ctr">
              <a:lnSpc>
                <a:spcPct val="115000"/>
              </a:lnSpc>
              <a:spcBef>
                <a:spcPts val="0"/>
              </a:spcBef>
              <a:spcAft>
                <a:spcPts val="100"/>
              </a:spcAft>
            </a:pPr>
            <a:r>
              <a:rPr sz="1000" b="0" i="0">
                <a:solidFill>
                  <a:srgbClr val="3A4452"/>
                </a:solidFill>
                <a:latin typeface="Segoe UI"/>
              </a:rPr>
              <a:t>prompt cố định</a:t>
            </a:r>
          </a:p>
        </p:txBody>
      </p:sp>
      <p:sp>
        <p:nvSpPr>
          <p:cNvPr id="19" name="Rounded Rectangle 18"/>
          <p:cNvSpPr/>
          <p:nvPr/>
        </p:nvSpPr>
        <p:spPr>
          <a:xfrm>
            <a:off x="2852928" y="4023360"/>
            <a:ext cx="1956816" cy="932688"/>
          </a:xfrm>
          <a:prstGeom prst="roundRect">
            <a:avLst>
              <a:gd name="adj" fmla="val 5000"/>
            </a:avLst>
          </a:prstGeom>
          <a:solidFill>
            <a:srgbClr val="FFFFFF"/>
          </a:solidFill>
          <a:ln w="22225">
            <a:solidFill>
              <a:srgbClr val="E8873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lnSpc>
                <a:spcPct val="110000"/>
              </a:lnSpc>
              <a:spcBef>
                <a:spcPts val="0"/>
              </a:spcBef>
              <a:spcAft>
                <a:spcPts val="300"/>
              </a:spcAft>
            </a:pPr>
            <a:r>
              <a:rPr sz="1200" b="1" i="0">
                <a:solidFill>
                  <a:srgbClr val="E8873A"/>
                </a:solidFill>
                <a:latin typeface="Segoe UI"/>
              </a:rPr>
              <a:t>②' Random baseline</a:t>
            </a:r>
          </a:p>
          <a:p>
            <a:pPr algn="ctr">
              <a:lnSpc>
                <a:spcPct val="115000"/>
              </a:lnSpc>
              <a:spcBef>
                <a:spcPts val="0"/>
              </a:spcBef>
              <a:spcAft>
                <a:spcPts val="100"/>
              </a:spcAft>
            </a:pPr>
            <a:r>
              <a:rPr sz="1000" b="0" i="0">
                <a:solidFill>
                  <a:srgbClr val="3A4452"/>
                </a:solidFill>
                <a:latin typeface="Segoe UI"/>
              </a:rPr>
              <a:t>seed = 42 (chốt trước)</a:t>
            </a:r>
          </a:p>
          <a:p>
            <a:pPr algn="ctr">
              <a:lnSpc>
                <a:spcPct val="115000"/>
              </a:lnSpc>
              <a:spcBef>
                <a:spcPts val="0"/>
              </a:spcBef>
              <a:spcAft>
                <a:spcPts val="100"/>
              </a:spcAft>
            </a:pPr>
            <a:r>
              <a:rPr sz="1000" b="0" i="0">
                <a:solidFill>
                  <a:srgbClr val="3A4452"/>
                </a:solidFill>
                <a:latin typeface="Segoe UI"/>
              </a:rPr>
              <a:t>seed/group từ SHA-256</a:t>
            </a:r>
          </a:p>
        </p:txBody>
      </p:sp>
      <p:sp>
        <p:nvSpPr>
          <p:cNvPr id="20" name="Rounded Rectangle 19"/>
          <p:cNvSpPr/>
          <p:nvPr/>
        </p:nvSpPr>
        <p:spPr>
          <a:xfrm>
            <a:off x="5138928" y="3401568"/>
            <a:ext cx="1956816" cy="1261872"/>
          </a:xfrm>
          <a:prstGeom prst="roundRect">
            <a:avLst>
              <a:gd name="adj" fmla="val 5000"/>
            </a:avLst>
          </a:prstGeom>
          <a:solidFill>
            <a:srgbClr val="FFFFFF"/>
          </a:solidFill>
          <a:ln w="22225">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lnSpc>
                <a:spcPct val="110000"/>
              </a:lnSpc>
              <a:spcBef>
                <a:spcPts val="0"/>
              </a:spcBef>
              <a:spcAft>
                <a:spcPts val="300"/>
              </a:spcAft>
            </a:pPr>
            <a:r>
              <a:rPr sz="1200" b="1" i="0">
                <a:solidFill>
                  <a:srgbClr val="1B2430"/>
                </a:solidFill>
                <a:latin typeface="Segoe UI"/>
              </a:rPr>
              <a:t>③ Cùng ngân sách</a:t>
            </a:r>
          </a:p>
          <a:p>
            <a:pPr algn="ctr">
              <a:lnSpc>
                <a:spcPct val="115000"/>
              </a:lnSpc>
              <a:spcBef>
                <a:spcPts val="0"/>
              </a:spcBef>
              <a:spcAft>
                <a:spcPts val="100"/>
              </a:spcAft>
            </a:pPr>
            <a:r>
              <a:rPr sz="1000" b="0" i="0">
                <a:solidFill>
                  <a:srgbClr val="3A4452"/>
                </a:solidFill>
                <a:latin typeface="Segoe UI"/>
              </a:rPr>
              <a:t>top 10% TRONG TỪNG</a:t>
            </a:r>
          </a:p>
          <a:p>
            <a:pPr algn="ctr">
              <a:lnSpc>
                <a:spcPct val="115000"/>
              </a:lnSpc>
              <a:spcBef>
                <a:spcPts val="0"/>
              </a:spcBef>
              <a:spcAft>
                <a:spcPts val="100"/>
              </a:spcAft>
            </a:pPr>
            <a:r>
              <a:rPr sz="1000" b="0" i="0">
                <a:solidFill>
                  <a:srgbClr val="3A4452"/>
                </a:solidFill>
                <a:latin typeface="Segoe UI"/>
              </a:rPr>
              <a:t>group (project, version,</a:t>
            </a:r>
          </a:p>
          <a:p>
            <a:pPr algn="ctr">
              <a:lnSpc>
                <a:spcPct val="115000"/>
              </a:lnSpc>
              <a:spcBef>
                <a:spcPts val="0"/>
              </a:spcBef>
              <a:spcAft>
                <a:spcPts val="100"/>
              </a:spcAft>
            </a:pPr>
            <a:r>
              <a:rPr sz="1000" b="0" i="0">
                <a:solidFill>
                  <a:srgbClr val="3A4452"/>
                </a:solidFill>
                <a:latin typeface="Segoe UI"/>
              </a:rPr>
              <a:t>class)</a:t>
            </a:r>
          </a:p>
          <a:p>
            <a:pPr algn="ctr">
              <a:lnSpc>
                <a:spcPct val="115000"/>
              </a:lnSpc>
              <a:spcBef>
                <a:spcPts val="0"/>
              </a:spcBef>
              <a:spcAft>
                <a:spcPts val="100"/>
              </a:spcAft>
            </a:pPr>
            <a:r>
              <a:rPr sz="1000" b="0" i="0">
                <a:solidFill>
                  <a:srgbClr val="3A4452"/>
                </a:solidFill>
                <a:latin typeface="Segoe UI"/>
              </a:rPr>
              <a:t>→ 1,119 mutant / nhánh</a:t>
            </a:r>
          </a:p>
        </p:txBody>
      </p:sp>
      <p:sp>
        <p:nvSpPr>
          <p:cNvPr id="21" name="Rounded Rectangle 20"/>
          <p:cNvSpPr/>
          <p:nvPr/>
        </p:nvSpPr>
        <p:spPr>
          <a:xfrm>
            <a:off x="7424928" y="3474720"/>
            <a:ext cx="1956816" cy="1115568"/>
          </a:xfrm>
          <a:prstGeom prst="roundRect">
            <a:avLst>
              <a:gd name="adj" fmla="val 5000"/>
            </a:avLst>
          </a:prstGeom>
          <a:solidFill>
            <a:srgbClr val="FFFFFF"/>
          </a:solidFill>
          <a:ln w="22225">
            <a:solidFill>
              <a:srgbClr val="1B243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lnSpc>
                <a:spcPct val="110000"/>
              </a:lnSpc>
              <a:spcBef>
                <a:spcPts val="0"/>
              </a:spcBef>
              <a:spcAft>
                <a:spcPts val="300"/>
              </a:spcAft>
            </a:pPr>
            <a:r>
              <a:rPr sz="1200" b="1" i="0">
                <a:solidFill>
                  <a:srgbClr val="1B2430"/>
                </a:solidFill>
                <a:latin typeface="Segoe UI"/>
              </a:rPr>
              <a:t>④ Metric</a:t>
            </a:r>
          </a:p>
          <a:p>
            <a:pPr algn="ctr">
              <a:lnSpc>
                <a:spcPct val="115000"/>
              </a:lnSpc>
              <a:spcBef>
                <a:spcPts val="0"/>
              </a:spcBef>
              <a:spcAft>
                <a:spcPts val="100"/>
              </a:spcAft>
            </a:pPr>
            <a:r>
              <a:rPr sz="1000" b="0" i="0">
                <a:solidFill>
                  <a:srgbClr val="3A4452"/>
                </a:solidFill>
                <a:latin typeface="Segoe UI"/>
              </a:rPr>
              <a:t>MS = Killed / Selected</a:t>
            </a:r>
          </a:p>
          <a:p>
            <a:pPr algn="ctr">
              <a:lnSpc>
                <a:spcPct val="115000"/>
              </a:lnSpc>
              <a:spcBef>
                <a:spcPts val="0"/>
              </a:spcBef>
              <a:spcAft>
                <a:spcPts val="100"/>
              </a:spcAft>
            </a:pPr>
            <a:r>
              <a:rPr sz="1000" b="0" i="0">
                <a:solidFill>
                  <a:srgbClr val="3A4452"/>
                </a:solidFill>
                <a:latin typeface="Segoe UI"/>
              </a:rPr>
              <a:t>tính cho từng group</a:t>
            </a:r>
          </a:p>
          <a:p>
            <a:pPr algn="ctr">
              <a:lnSpc>
                <a:spcPct val="115000"/>
              </a:lnSpc>
              <a:spcBef>
                <a:spcPts val="0"/>
              </a:spcBef>
              <a:spcAft>
                <a:spcPts val="100"/>
              </a:spcAft>
            </a:pPr>
            <a:r>
              <a:rPr sz="1000" b="0" i="0">
                <a:solidFill>
                  <a:srgbClr val="3A4452"/>
                </a:solidFill>
                <a:latin typeface="Segoe UI"/>
              </a:rPr>
              <a:t>và cho toàn bộ pool</a:t>
            </a:r>
          </a:p>
        </p:txBody>
      </p:sp>
      <p:sp>
        <p:nvSpPr>
          <p:cNvPr id="22" name="Rounded Rectangle 21"/>
          <p:cNvSpPr/>
          <p:nvPr/>
        </p:nvSpPr>
        <p:spPr>
          <a:xfrm>
            <a:off x="9710928" y="3474720"/>
            <a:ext cx="1956816" cy="1115568"/>
          </a:xfrm>
          <a:prstGeom prst="roundRect">
            <a:avLst>
              <a:gd name="adj" fmla="val 5000"/>
            </a:avLst>
          </a:prstGeom>
          <a:solidFill>
            <a:srgbClr val="FFFFFF"/>
          </a:solidFill>
          <a:ln w="22225">
            <a:solidFill>
              <a:srgbClr val="1F5FA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bIns="54864"/>
          <a:lstStyle/>
          <a:p>
            <a:pPr algn="ctr">
              <a:lnSpc>
                <a:spcPct val="110000"/>
              </a:lnSpc>
              <a:spcBef>
                <a:spcPts val="0"/>
              </a:spcBef>
              <a:spcAft>
                <a:spcPts val="300"/>
              </a:spcAft>
            </a:pPr>
            <a:r>
              <a:rPr sz="1200" b="1" i="0">
                <a:solidFill>
                  <a:srgbClr val="1F5FA8"/>
                </a:solidFill>
                <a:latin typeface="Segoe UI"/>
              </a:rPr>
              <a:t>⑤ Kiểm định</a:t>
            </a:r>
          </a:p>
          <a:p>
            <a:pPr algn="ctr">
              <a:lnSpc>
                <a:spcPct val="115000"/>
              </a:lnSpc>
              <a:spcBef>
                <a:spcPts val="0"/>
              </a:spcBef>
              <a:spcAft>
                <a:spcPts val="100"/>
              </a:spcAft>
            </a:pPr>
            <a:r>
              <a:rPr sz="1000" b="0" i="0">
                <a:solidFill>
                  <a:srgbClr val="3A4452"/>
                </a:solidFill>
                <a:latin typeface="Segoe UI"/>
              </a:rPr>
              <a:t>Wilcoxon một phía</a:t>
            </a:r>
          </a:p>
          <a:p>
            <a:pPr algn="ctr">
              <a:lnSpc>
                <a:spcPct val="115000"/>
              </a:lnSpc>
              <a:spcBef>
                <a:spcPts val="0"/>
              </a:spcBef>
              <a:spcAft>
                <a:spcPts val="100"/>
              </a:spcAft>
            </a:pPr>
            <a:r>
              <a:rPr sz="1000" b="0" i="0">
                <a:solidFill>
                  <a:srgbClr val="3A4452"/>
                </a:solidFill>
                <a:latin typeface="Segoe UI"/>
              </a:rPr>
              <a:t>ghép cặp theo group</a:t>
            </a:r>
          </a:p>
          <a:p>
            <a:pPr algn="ctr">
              <a:lnSpc>
                <a:spcPct val="115000"/>
              </a:lnSpc>
              <a:spcBef>
                <a:spcPts val="0"/>
              </a:spcBef>
              <a:spcAft>
                <a:spcPts val="100"/>
              </a:spcAft>
            </a:pPr>
            <a:r>
              <a:rPr sz="1000" b="0" i="0">
                <a:solidFill>
                  <a:srgbClr val="3A4452"/>
                </a:solidFill>
                <a:latin typeface="Segoe UI"/>
              </a:rPr>
              <a:t>α = 0.05</a:t>
            </a:r>
          </a:p>
        </p:txBody>
      </p:sp>
      <p:sp>
        <p:nvSpPr>
          <p:cNvPr id="23" name="Right Arrow 22"/>
          <p:cNvSpPr/>
          <p:nvPr/>
        </p:nvSpPr>
        <p:spPr>
          <a:xfrm>
            <a:off x="2560320" y="3849624"/>
            <a:ext cx="256032" cy="201168"/>
          </a:xfrm>
          <a:prstGeom prst="rightArrow">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4846320" y="3849624"/>
            <a:ext cx="256032" cy="201168"/>
          </a:xfrm>
          <a:prstGeom prst="rightArrow">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7132320" y="3849624"/>
            <a:ext cx="256032" cy="201168"/>
          </a:xfrm>
          <a:prstGeom prst="rightArrow">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9418320" y="3849624"/>
            <a:ext cx="256032" cy="201168"/>
          </a:xfrm>
          <a:prstGeom prst="rightArrow">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138928"/>
            <a:ext cx="11057839" cy="1188720"/>
          </a:xfrm>
          <a:prstGeom prst="rect">
            <a:avLst/>
          </a:prstGeom>
          <a:noFill/>
        </p:spPr>
        <p:txBody>
          <a:bodyPr wrap="square" lIns="0" rIns="0" tIns="0" bIns="0" anchor="t">
            <a:spAutoFit/>
          </a:bodyPr>
          <a:lstStyle/>
          <a:p>
            <a:pPr algn="l">
              <a:lnSpc>
                <a:spcPct val="130000"/>
              </a:lnSpc>
              <a:spcBef>
                <a:spcPts val="0"/>
              </a:spcBef>
              <a:spcAft>
                <a:spcPts val="900"/>
              </a:spcAft>
            </a:pPr>
            <a:r>
              <a:rPr sz="1350" b="1" i="0">
                <a:solidFill>
                  <a:srgbClr val="1B2430"/>
                </a:solidFill>
                <a:latin typeface="Segoe UI"/>
              </a:rPr>
              <a:t>Vì sao thiết kế này sạch:  </a:t>
            </a:r>
            <a:r>
              <a:rPr sz="1350" b="0" i="0">
                <a:solidFill>
                  <a:srgbClr val="3A4452"/>
                </a:solidFill>
                <a:latin typeface="Segoe UI"/>
              </a:rPr>
              <a:t>hai nhánh dùng CHUNG một pool mutant của PIT và CHUNG một ngân sách (1,119 mutant). Không nhánh nào sinh mutant mới, nên mọi chênh lệch mutation score đều quy về đúng một thứ: chất lượng của quyết định chọn.</a:t>
            </a:r>
          </a:p>
          <a:p>
            <a:pPr algn="l">
              <a:lnSpc>
                <a:spcPct val="130000"/>
              </a:lnSpc>
              <a:spcBef>
                <a:spcPts val="0"/>
              </a:spcBef>
              <a:spcAft>
                <a:spcPts val="0"/>
              </a:spcAft>
            </a:pPr>
            <a:r>
              <a:rPr sz="1300" b="1" i="0">
                <a:solidFill>
                  <a:srgbClr val="E8873A"/>
                </a:solidFill>
                <a:latin typeface="Segoe UI"/>
              </a:rPr>
              <a:t>Sự cố đã xử lý minh bạch:  </a:t>
            </a:r>
            <a:r>
              <a:rPr sz="1300" b="0" i="0">
                <a:solidFill>
                  <a:srgbClr val="3A4452"/>
                </a:solidFill>
                <a:latin typeface="Segoe UI"/>
              </a:rPr>
              <a:t>lần chạy PIT đầu tiên Codec ra 100% NO_COVERAGE (0/2,317 killed) vì thiếu JUnit 4 trên classpath. Sau khi sửa: 84.9% killed. Đã thêm auto-guard fail pipeline nếu project nào 0 killed hoặc &gt;50% NO_COVERAGE.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9503359" cy="237744"/>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METRIC · STATISTICAL TEST</a:t>
            </a:r>
          </a:p>
        </p:txBody>
      </p:sp>
      <p:sp>
        <p:nvSpPr>
          <p:cNvPr id="3" name="TextBox 2"/>
          <p:cNvSpPr txBox="1"/>
          <p:nvPr/>
        </p:nvSpPr>
        <p:spPr>
          <a:xfrm>
            <a:off x="566928" y="603504"/>
            <a:ext cx="9503359" cy="566928"/>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1B2430"/>
                </a:solidFill>
                <a:latin typeface="Segoe UI"/>
              </a:rPr>
              <a:t>Metric, kiểm định — và một tiêu chí đã phải sửa</a:t>
            </a:r>
          </a:p>
        </p:txBody>
      </p:sp>
      <p:sp>
        <p:nvSpPr>
          <p:cNvPr id="4" name="Rectangle 3"/>
          <p:cNvSpPr/>
          <p:nvPr/>
        </p:nvSpPr>
        <p:spPr>
          <a:xfrm>
            <a:off x="566928" y="1243584"/>
            <a:ext cx="822960" cy="406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1727" y="329184"/>
            <a:ext cx="1463040" cy="274320"/>
          </a:xfrm>
          <a:prstGeom prst="rect">
            <a:avLst/>
          </a:prstGeom>
          <a:noFill/>
        </p:spPr>
        <p:txBody>
          <a:bodyPr wrap="square" lIns="0" rIns="0" tIns="0" bIns="0" anchor="t">
            <a:spAutoFit/>
          </a:bodyPr>
          <a:lstStyle/>
          <a:p>
            <a:pPr algn="r">
              <a:lnSpc>
                <a:spcPct val="125000"/>
              </a:lnSpc>
              <a:spcBef>
                <a:spcPts val="0"/>
              </a:spcBef>
              <a:spcAft>
                <a:spcPts val="0"/>
              </a:spcAft>
            </a:pPr>
            <a:r>
              <a:rPr sz="1200" b="1" i="0">
                <a:solidFill>
                  <a:srgbClr val="778291"/>
                </a:solidFill>
                <a:latin typeface="Segoe UI"/>
              </a:rPr>
              <a:t>1 phút</a:t>
            </a:r>
          </a:p>
        </p:txBody>
      </p:sp>
      <p:sp>
        <p:nvSpPr>
          <p:cNvPr id="6" name="TextBox 5"/>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5/9</a:t>
            </a:r>
          </a:p>
        </p:txBody>
      </p:sp>
      <p:sp>
        <p:nvSpPr>
          <p:cNvPr id="7" name="Rounded Rectangle 6"/>
          <p:cNvSpPr/>
          <p:nvPr/>
        </p:nvSpPr>
        <p:spPr>
          <a:xfrm>
            <a:off x="566928" y="1691640"/>
            <a:ext cx="4846320" cy="416052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1100"/>
              </a:spcAft>
            </a:pPr>
            <a:r>
              <a:rPr sz="1150" b="1" i="0">
                <a:solidFill>
                  <a:srgbClr val="1F5FA8"/>
                </a:solidFill>
                <a:latin typeface="Segoe UI"/>
              </a:rPr>
              <a:t>METRIC</a:t>
            </a:r>
          </a:p>
          <a:p>
            <a:pPr algn="l">
              <a:lnSpc>
                <a:spcPct val="125000"/>
              </a:lnSpc>
              <a:spcBef>
                <a:spcPts val="0"/>
              </a:spcBef>
              <a:spcAft>
                <a:spcPts val="700"/>
              </a:spcAft>
            </a:pPr>
            <a:r>
              <a:rPr sz="2100" b="1" i="0">
                <a:solidFill>
                  <a:srgbClr val="1B2430"/>
                </a:solidFill>
                <a:latin typeface="Consolas"/>
              </a:rPr>
              <a:t>MS = Killed / Selected</a:t>
            </a:r>
          </a:p>
          <a:p>
            <a:pPr algn="l">
              <a:lnSpc>
                <a:spcPct val="125000"/>
              </a:lnSpc>
              <a:spcBef>
                <a:spcPts val="0"/>
              </a:spcBef>
              <a:spcAft>
                <a:spcPts val="1800"/>
              </a:spcAft>
            </a:pPr>
            <a:r>
              <a:rPr sz="1300" b="0" i="0">
                <a:solidFill>
                  <a:srgbClr val="778291"/>
                </a:solidFill>
                <a:latin typeface="Segoe UI"/>
              </a:rPr>
              <a:t>Tỉ lệ mutant trong tập ĐÃ CHỌN bị test suite giết.</a:t>
            </a:r>
          </a:p>
          <a:p>
            <a:pPr algn="l">
              <a:lnSpc>
                <a:spcPct val="125000"/>
              </a:lnSpc>
              <a:spcBef>
                <a:spcPts val="0"/>
              </a:spcBef>
              <a:spcAft>
                <a:spcPts val="900"/>
              </a:spcAft>
            </a:pPr>
            <a:r>
              <a:rPr sz="1450" b="1" i="0">
                <a:solidFill>
                  <a:srgbClr val="1B2430"/>
                </a:solidFill>
                <a:latin typeface="Segoe UI"/>
              </a:rPr>
              <a:t>Tính ở hai đơn vị — cố ý</a:t>
            </a:r>
          </a:p>
          <a:p>
            <a:pPr algn="l">
              <a:lnSpc>
                <a:spcPct val="130000"/>
              </a:lnSpc>
              <a:spcBef>
                <a:spcPts val="0"/>
              </a:spcBef>
              <a:spcAft>
                <a:spcPts val="800"/>
              </a:spcAft>
            </a:pPr>
            <a:r>
              <a:rPr sz="1350" b="1" i="0">
                <a:solidFill>
                  <a:srgbClr val="1B2430"/>
                </a:solidFill>
                <a:latin typeface="Segoe UI"/>
              </a:rPr>
              <a:t>Per-group</a:t>
            </a:r>
            <a:r>
              <a:rPr sz="1350" b="0" i="0">
                <a:solidFill>
                  <a:srgbClr val="3A4452"/>
                </a:solidFill>
                <a:latin typeface="Segoe UI"/>
              </a:rPr>
              <a:t>  (37 group) — đơn vị pre-registered, dùng cho kiểm định ghép cặp.</a:t>
            </a:r>
          </a:p>
          <a:p>
            <a:pPr algn="l">
              <a:lnSpc>
                <a:spcPct val="130000"/>
              </a:lnSpc>
              <a:spcBef>
                <a:spcPts val="0"/>
              </a:spcBef>
              <a:spcAft>
                <a:spcPts val="1200"/>
              </a:spcAft>
            </a:pPr>
            <a:r>
              <a:rPr sz="1350" b="1" i="0">
                <a:solidFill>
                  <a:srgbClr val="1B2430"/>
                </a:solidFill>
                <a:latin typeface="Segoe UI"/>
              </a:rPr>
              <a:t>Pooled mutant-weighted</a:t>
            </a:r>
            <a:r>
              <a:rPr sz="1350" b="0" i="0">
                <a:solidFill>
                  <a:srgbClr val="3A4452"/>
                </a:solidFill>
                <a:latin typeface="Segoe UI"/>
              </a:rPr>
              <a:t>  (1,119 mutant) — phản ánh cái người dùng thực sự nhận được.</a:t>
            </a:r>
          </a:p>
          <a:p>
            <a:pPr algn="l">
              <a:lnSpc>
                <a:spcPct val="130000"/>
              </a:lnSpc>
              <a:spcBef>
                <a:spcPts val="0"/>
              </a:spcBef>
              <a:spcAft>
                <a:spcPts val="0"/>
              </a:spcAft>
            </a:pPr>
            <a:r>
              <a:rPr sz="1300" b="0" i="1">
                <a:solidFill>
                  <a:srgbClr val="E8873A"/>
                </a:solidFill>
                <a:latin typeface="Segoe UI"/>
              </a:rPr>
              <a:t>Slide 6–7 sẽ cho thấy hai đơn vị này kể hai câu chuyện khác nhau — và bản thân điều đó là một phát hiện.</a:t>
            </a:r>
          </a:p>
        </p:txBody>
      </p:sp>
      <p:sp>
        <p:nvSpPr>
          <p:cNvPr id="8" name="Rounded Rectangle 7"/>
          <p:cNvSpPr/>
          <p:nvPr/>
        </p:nvSpPr>
        <p:spPr>
          <a:xfrm>
            <a:off x="5687568" y="1691640"/>
            <a:ext cx="5937199" cy="2011680"/>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1100"/>
              </a:spcAft>
            </a:pPr>
            <a:r>
              <a:rPr sz="1150" b="1" i="0">
                <a:solidFill>
                  <a:srgbClr val="1F5FA8"/>
                </a:solidFill>
                <a:latin typeface="Segoe UI"/>
              </a:rPr>
              <a:t>STATISTICAL TEST</a:t>
            </a:r>
          </a:p>
          <a:p>
            <a:pPr algn="l">
              <a:lnSpc>
                <a:spcPct val="128000"/>
              </a:lnSpc>
              <a:spcBef>
                <a:spcPts val="0"/>
              </a:spcBef>
              <a:spcAft>
                <a:spcPts val="700"/>
              </a:spcAft>
            </a:pPr>
            <a:r>
              <a:rPr sz="1250" b="1" i="0">
                <a:solidFill>
                  <a:srgbClr val="1F5FA8"/>
                </a:solidFill>
                <a:latin typeface="Segoe UI"/>
              </a:rPr>
              <a:t>—  </a:t>
            </a:r>
            <a:r>
              <a:rPr sz="1250" b="1" i="0">
                <a:solidFill>
                  <a:srgbClr val="1B2430"/>
                </a:solidFill>
                <a:latin typeface="Segoe UI"/>
              </a:rPr>
              <a:t>Wilcoxon signed-rank một phía</a:t>
            </a:r>
            <a:r>
              <a:rPr sz="1250" b="0" i="0">
                <a:solidFill>
                  <a:srgbClr val="3A4452"/>
                </a:solidFill>
                <a:latin typeface="Segoe UI"/>
              </a:rPr>
              <a:t> — ghép cặp theo (project, version, class), α = 0.05. Dữ liệu ghép cặp theo thiết kế, MS không giả định phân phối chuẩn.</a:t>
            </a:r>
          </a:p>
          <a:p>
            <a:pPr algn="l">
              <a:lnSpc>
                <a:spcPct val="128000"/>
              </a:lnSpc>
              <a:spcBef>
                <a:spcPts val="0"/>
              </a:spcBef>
              <a:spcAft>
                <a:spcPts val="700"/>
              </a:spcAft>
            </a:pPr>
            <a:r>
              <a:rPr sz="1250" b="1" i="0">
                <a:solidFill>
                  <a:srgbClr val="1F5FA8"/>
                </a:solidFill>
                <a:latin typeface="Segoe UI"/>
              </a:rPr>
              <a:t>—  </a:t>
            </a:r>
            <a:r>
              <a:rPr sz="1250" b="1" i="0">
                <a:solidFill>
                  <a:srgbClr val="1B2430"/>
                </a:solidFill>
                <a:latin typeface="Segoe UI"/>
              </a:rPr>
              <a:t>Effect size rank-biserial r_rb</a:t>
            </a:r>
            <a:r>
              <a:rPr sz="1250" b="0" i="0">
                <a:solidFill>
                  <a:srgbClr val="3A4452"/>
                </a:solidFill>
                <a:latin typeface="Segoe UI"/>
              </a:rPr>
              <a:t> — ngưỡng ≥ 0.30 (medium, Cohen).</a:t>
            </a:r>
          </a:p>
          <a:p>
            <a:pPr algn="l">
              <a:lnSpc>
                <a:spcPct val="128000"/>
              </a:lnSpc>
              <a:spcBef>
                <a:spcPts val="0"/>
              </a:spcBef>
              <a:spcAft>
                <a:spcPts val="700"/>
              </a:spcAft>
            </a:pPr>
            <a:r>
              <a:rPr sz="1250" b="1" i="0">
                <a:solidFill>
                  <a:srgbClr val="1F5FA8"/>
                </a:solidFill>
                <a:latin typeface="Segoe UI"/>
              </a:rPr>
              <a:t>—  </a:t>
            </a:r>
            <a:r>
              <a:rPr sz="1250" b="1" i="0">
                <a:solidFill>
                  <a:srgbClr val="1B2430"/>
                </a:solidFill>
                <a:latin typeface="Segoe UI"/>
              </a:rPr>
              <a:t>Ngưỡng 0.30 không tùy tiện</a:t>
            </a:r>
            <a:r>
              <a:rPr sz="1250" b="0" i="0">
                <a:solidFill>
                  <a:srgbClr val="3A4452"/>
                </a:solidFill>
                <a:latin typeface="Segoe UI"/>
              </a:rPr>
              <a:t> — Jimenez đo A₁₂ ≈ 0.57 (small) và kết luận là chưa đủ giá trị thực tế.</a:t>
            </a:r>
          </a:p>
        </p:txBody>
      </p:sp>
      <p:sp>
        <p:nvSpPr>
          <p:cNvPr id="9" name="Rounded Rectangle 8"/>
          <p:cNvSpPr/>
          <p:nvPr/>
        </p:nvSpPr>
        <p:spPr>
          <a:xfrm>
            <a:off x="5687568" y="3913632"/>
            <a:ext cx="5937199" cy="1938528"/>
          </a:xfrm>
          <a:prstGeom prst="roundRect">
            <a:avLst>
              <a:gd name="adj" fmla="val 5000"/>
            </a:avLst>
          </a:prstGeom>
          <a:solidFill>
            <a:srgbClr val="FDF3E8"/>
          </a:solidFill>
          <a:ln w="15875">
            <a:solidFill>
              <a:srgbClr val="E8873A"/>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1100"/>
              </a:spcAft>
            </a:pPr>
            <a:r>
              <a:rPr sz="1150" b="1" i="0">
                <a:solidFill>
                  <a:srgbClr val="E8873A"/>
                </a:solidFill>
                <a:latin typeface="Segoe UI"/>
              </a:rPr>
              <a:t>AMENDMENT — ĐÃ BỎ TIÊU CHÍ MEDIAN</a:t>
            </a:r>
          </a:p>
          <a:p>
            <a:pPr algn="l">
              <a:lnSpc>
                <a:spcPct val="130000"/>
              </a:lnSpc>
              <a:spcBef>
                <a:spcPts val="0"/>
              </a:spcBef>
              <a:spcAft>
                <a:spcPts val="800"/>
              </a:spcAft>
            </a:pPr>
            <a:r>
              <a:rPr sz="1250" b="0" i="0">
                <a:solidFill>
                  <a:srgbClr val="3A4452"/>
                </a:solidFill>
                <a:latin typeface="Segoe UI"/>
              </a:rPr>
              <a:t>Tiêu chí gốc còn đòi median(ΔMS) &gt; 0. Nhưng số mutant chọn trong mỗi group k chạy từ 1 đến 173: group k=1 chỉ có MS ∈ {0, 1}, k=2 nhảy bước 0.5 → 11/37 cặp hòa tuyệt đối, median bị ghim = 0 bất kể hiệu ứng đi hướng nào.</a:t>
            </a:r>
          </a:p>
          <a:p>
            <a:pPr algn="l">
              <a:lnSpc>
                <a:spcPct val="130000"/>
              </a:lnSpc>
              <a:spcBef>
                <a:spcPts val="0"/>
              </a:spcBef>
              <a:spcAft>
                <a:spcPts val="0"/>
              </a:spcAft>
            </a:pPr>
            <a:r>
              <a:rPr sz="1250" b="1" i="0">
                <a:solidFill>
                  <a:srgbClr val="1B2430"/>
                </a:solidFill>
                <a:latin typeface="Segoe UI"/>
              </a:rPr>
              <a:t>Đây là lỗi đặc tả của tiêu chí → bỏ median, GIỮ NGUYÊN p và r_rb.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9503359" cy="237744"/>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KẾT QUẢ (1/2)</a:t>
            </a:r>
          </a:p>
        </p:txBody>
      </p:sp>
      <p:sp>
        <p:nvSpPr>
          <p:cNvPr id="3" name="TextBox 2"/>
          <p:cNvSpPr txBox="1"/>
          <p:nvPr/>
        </p:nvSpPr>
        <p:spPr>
          <a:xfrm>
            <a:off x="566928" y="603504"/>
            <a:ext cx="9503359" cy="566928"/>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1B2430"/>
                </a:solidFill>
                <a:latin typeface="Segoe UI"/>
              </a:rPr>
              <a:t>Tổng thể GPT thắng — nhưng test pre-registered không đạt</a:t>
            </a:r>
          </a:p>
        </p:txBody>
      </p:sp>
      <p:sp>
        <p:nvSpPr>
          <p:cNvPr id="4" name="Rectangle 3"/>
          <p:cNvSpPr/>
          <p:nvPr/>
        </p:nvSpPr>
        <p:spPr>
          <a:xfrm>
            <a:off x="566928" y="1243584"/>
            <a:ext cx="822960" cy="406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1727" y="329184"/>
            <a:ext cx="1463040" cy="274320"/>
          </a:xfrm>
          <a:prstGeom prst="rect">
            <a:avLst/>
          </a:prstGeom>
          <a:noFill/>
        </p:spPr>
        <p:txBody>
          <a:bodyPr wrap="square" lIns="0" rIns="0" tIns="0" bIns="0" anchor="t">
            <a:spAutoFit/>
          </a:bodyPr>
          <a:lstStyle/>
          <a:p>
            <a:pPr algn="r">
              <a:lnSpc>
                <a:spcPct val="125000"/>
              </a:lnSpc>
              <a:spcBef>
                <a:spcPts val="0"/>
              </a:spcBef>
              <a:spcAft>
                <a:spcPts val="0"/>
              </a:spcAft>
            </a:pPr>
            <a:r>
              <a:rPr sz="1200" b="1" i="0">
                <a:solidFill>
                  <a:srgbClr val="778291"/>
                </a:solidFill>
                <a:latin typeface="Segoe UI"/>
              </a:rPr>
              <a:t>1,5 phút</a:t>
            </a:r>
          </a:p>
        </p:txBody>
      </p:sp>
      <p:sp>
        <p:nvSpPr>
          <p:cNvPr id="6" name="TextBox 5"/>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6/9</a:t>
            </a:r>
          </a:p>
        </p:txBody>
      </p:sp>
      <p:pic>
        <p:nvPicPr>
          <p:cNvPr id="7" name="Picture 6" descr="fig_overall.png"/>
          <p:cNvPicPr>
            <a:picLocks noChangeAspect="1"/>
          </p:cNvPicPr>
          <p:nvPr/>
        </p:nvPicPr>
        <p:blipFill>
          <a:blip r:embed="rId2"/>
          <a:stretch>
            <a:fillRect/>
          </a:stretch>
        </p:blipFill>
        <p:spPr>
          <a:xfrm>
            <a:off x="658368" y="1874519"/>
            <a:ext cx="4640503" cy="3017520"/>
          </a:xfrm>
          <a:prstGeom prst="rect">
            <a:avLst/>
          </a:prstGeom>
        </p:spPr>
      </p:pic>
      <p:sp>
        <p:nvSpPr>
          <p:cNvPr id="8" name="TextBox 7"/>
          <p:cNvSpPr txBox="1"/>
          <p:nvPr/>
        </p:nvSpPr>
        <p:spPr>
          <a:xfrm>
            <a:off x="5440680" y="1691640"/>
            <a:ext cx="6184087" cy="27432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GHÉP CẶP THEO GROUP — WILCOXON MỘT PHÍA</a:t>
            </a:r>
          </a:p>
        </p:txBody>
      </p:sp>
      <p:sp>
        <p:nvSpPr>
          <p:cNvPr id="9" name="Rectangle 8"/>
          <p:cNvSpPr/>
          <p:nvPr/>
        </p:nvSpPr>
        <p:spPr>
          <a:xfrm>
            <a:off x="5440680" y="2084831"/>
            <a:ext cx="6184087" cy="429768"/>
          </a:xfrm>
          <a:prstGeom prst="rect">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32120" y="2185415"/>
            <a:ext cx="1919709" cy="27432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FFFFFF"/>
                </a:solidFill>
                <a:latin typeface="Segoe UI"/>
              </a:rPr>
              <a:t>Subset</a:t>
            </a:r>
          </a:p>
        </p:txBody>
      </p:sp>
      <p:sp>
        <p:nvSpPr>
          <p:cNvPr id="11" name="TextBox 10"/>
          <p:cNvSpPr txBox="1"/>
          <p:nvPr/>
        </p:nvSpPr>
        <p:spPr>
          <a:xfrm>
            <a:off x="7634709" y="2185415"/>
            <a:ext cx="559210" cy="274320"/>
          </a:xfrm>
          <a:prstGeom prst="rect">
            <a:avLst/>
          </a:prstGeom>
          <a:noFill/>
        </p:spPr>
        <p:txBody>
          <a:bodyPr wrap="square" lIns="0" rIns="0" tIns="0" bIns="0" anchor="t">
            <a:spAutoFit/>
          </a:bodyPr>
          <a:lstStyle/>
          <a:p>
            <a:pPr algn="r">
              <a:lnSpc>
                <a:spcPct val="125000"/>
              </a:lnSpc>
              <a:spcBef>
                <a:spcPts val="0"/>
              </a:spcBef>
              <a:spcAft>
                <a:spcPts val="0"/>
              </a:spcAft>
            </a:pPr>
            <a:r>
              <a:rPr sz="1150" b="1" i="0">
                <a:solidFill>
                  <a:srgbClr val="FFFFFF"/>
                </a:solidFill>
                <a:latin typeface="Segoe UI"/>
              </a:rPr>
              <a:t>n</a:t>
            </a:r>
          </a:p>
        </p:txBody>
      </p:sp>
      <p:sp>
        <p:nvSpPr>
          <p:cNvPr id="12" name="TextBox 11"/>
          <p:cNvSpPr txBox="1"/>
          <p:nvPr/>
        </p:nvSpPr>
        <p:spPr>
          <a:xfrm>
            <a:off x="8376800" y="2185415"/>
            <a:ext cx="1301300" cy="274320"/>
          </a:xfrm>
          <a:prstGeom prst="rect">
            <a:avLst/>
          </a:prstGeom>
          <a:noFill/>
        </p:spPr>
        <p:txBody>
          <a:bodyPr wrap="square" lIns="0" rIns="0" tIns="0" bIns="0" anchor="t">
            <a:spAutoFit/>
          </a:bodyPr>
          <a:lstStyle/>
          <a:p>
            <a:pPr algn="r">
              <a:lnSpc>
                <a:spcPct val="125000"/>
              </a:lnSpc>
              <a:spcBef>
                <a:spcPts val="0"/>
              </a:spcBef>
              <a:spcAft>
                <a:spcPts val="0"/>
              </a:spcAft>
            </a:pPr>
            <a:r>
              <a:rPr sz="1150" b="1" i="0">
                <a:solidFill>
                  <a:srgbClr val="FFFFFF"/>
                </a:solidFill>
                <a:latin typeface="Segoe UI"/>
              </a:rPr>
              <a:t>W / L / T</a:t>
            </a:r>
          </a:p>
        </p:txBody>
      </p:sp>
      <p:sp>
        <p:nvSpPr>
          <p:cNvPr id="13" name="TextBox 12"/>
          <p:cNvSpPr txBox="1"/>
          <p:nvPr/>
        </p:nvSpPr>
        <p:spPr>
          <a:xfrm>
            <a:off x="9860980" y="2185415"/>
            <a:ext cx="806573" cy="274320"/>
          </a:xfrm>
          <a:prstGeom prst="rect">
            <a:avLst/>
          </a:prstGeom>
          <a:noFill/>
        </p:spPr>
        <p:txBody>
          <a:bodyPr wrap="square" lIns="0" rIns="0" tIns="0" bIns="0" anchor="t">
            <a:spAutoFit/>
          </a:bodyPr>
          <a:lstStyle/>
          <a:p>
            <a:pPr algn="r">
              <a:lnSpc>
                <a:spcPct val="125000"/>
              </a:lnSpc>
              <a:spcBef>
                <a:spcPts val="0"/>
              </a:spcBef>
              <a:spcAft>
                <a:spcPts val="0"/>
              </a:spcAft>
            </a:pPr>
            <a:r>
              <a:rPr sz="1150" b="1" i="0">
                <a:solidFill>
                  <a:srgbClr val="FFFFFF"/>
                </a:solidFill>
                <a:latin typeface="Segoe UI"/>
              </a:rPr>
              <a:t>p</a:t>
            </a:r>
          </a:p>
        </p:txBody>
      </p:sp>
      <p:sp>
        <p:nvSpPr>
          <p:cNvPr id="14" name="TextBox 13"/>
          <p:cNvSpPr txBox="1"/>
          <p:nvPr/>
        </p:nvSpPr>
        <p:spPr>
          <a:xfrm>
            <a:off x="10850434" y="2185415"/>
            <a:ext cx="682892" cy="274320"/>
          </a:xfrm>
          <a:prstGeom prst="rect">
            <a:avLst/>
          </a:prstGeom>
          <a:noFill/>
        </p:spPr>
        <p:txBody>
          <a:bodyPr wrap="square" lIns="0" rIns="0" tIns="0" bIns="0" anchor="t">
            <a:spAutoFit/>
          </a:bodyPr>
          <a:lstStyle/>
          <a:p>
            <a:pPr algn="r">
              <a:lnSpc>
                <a:spcPct val="125000"/>
              </a:lnSpc>
              <a:spcBef>
                <a:spcPts val="0"/>
              </a:spcBef>
              <a:spcAft>
                <a:spcPts val="0"/>
              </a:spcAft>
            </a:pPr>
            <a:r>
              <a:rPr sz="1150" b="1" i="0">
                <a:solidFill>
                  <a:srgbClr val="FFFFFF"/>
                </a:solidFill>
                <a:latin typeface="Segoe UI"/>
              </a:rPr>
              <a:t>r_rb</a:t>
            </a:r>
          </a:p>
        </p:txBody>
      </p:sp>
      <p:sp>
        <p:nvSpPr>
          <p:cNvPr id="15" name="Rectangle 14"/>
          <p:cNvSpPr/>
          <p:nvPr/>
        </p:nvSpPr>
        <p:spPr>
          <a:xfrm>
            <a:off x="5440680" y="2514599"/>
            <a:ext cx="6184087" cy="429768"/>
          </a:xfrm>
          <a:prstGeom prst="rect">
            <a:avLst/>
          </a:prstGeom>
          <a:solidFill>
            <a:srgbClr val="E4EE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2615183"/>
            <a:ext cx="1919709" cy="274320"/>
          </a:xfrm>
          <a:prstGeom prst="rect">
            <a:avLst/>
          </a:prstGeom>
          <a:noFill/>
        </p:spPr>
        <p:txBody>
          <a:bodyPr wrap="square" lIns="0" rIns="0" tIns="0" bIns="0" anchor="t">
            <a:spAutoFit/>
          </a:bodyPr>
          <a:lstStyle/>
          <a:p>
            <a:pPr algn="l">
              <a:lnSpc>
                <a:spcPct val="125000"/>
              </a:lnSpc>
              <a:spcBef>
                <a:spcPts val="0"/>
              </a:spcBef>
              <a:spcAft>
                <a:spcPts val="0"/>
              </a:spcAft>
            </a:pPr>
            <a:r>
              <a:rPr sz="1350" b="1" i="0">
                <a:solidFill>
                  <a:srgbClr val="1B2430"/>
                </a:solidFill>
                <a:latin typeface="Segoe UI"/>
              </a:rPr>
              <a:t>Pooled (tất cả)</a:t>
            </a:r>
          </a:p>
        </p:txBody>
      </p:sp>
      <p:sp>
        <p:nvSpPr>
          <p:cNvPr id="17" name="TextBox 16"/>
          <p:cNvSpPr txBox="1"/>
          <p:nvPr/>
        </p:nvSpPr>
        <p:spPr>
          <a:xfrm>
            <a:off x="7634709" y="2615183"/>
            <a:ext cx="55921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1" i="0">
                <a:solidFill>
                  <a:srgbClr val="1B2430"/>
                </a:solidFill>
                <a:latin typeface="Consolas"/>
              </a:rPr>
              <a:t>37</a:t>
            </a:r>
          </a:p>
        </p:txBody>
      </p:sp>
      <p:sp>
        <p:nvSpPr>
          <p:cNvPr id="18" name="TextBox 17"/>
          <p:cNvSpPr txBox="1"/>
          <p:nvPr/>
        </p:nvSpPr>
        <p:spPr>
          <a:xfrm>
            <a:off x="8376800" y="2615183"/>
            <a:ext cx="130130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1" i="0">
                <a:solidFill>
                  <a:srgbClr val="1B2430"/>
                </a:solidFill>
                <a:latin typeface="Consolas"/>
              </a:rPr>
              <a:t>17/9/11</a:t>
            </a:r>
          </a:p>
        </p:txBody>
      </p:sp>
      <p:sp>
        <p:nvSpPr>
          <p:cNvPr id="19" name="TextBox 18"/>
          <p:cNvSpPr txBox="1"/>
          <p:nvPr/>
        </p:nvSpPr>
        <p:spPr>
          <a:xfrm>
            <a:off x="9860980" y="2615183"/>
            <a:ext cx="806573" cy="274320"/>
          </a:xfrm>
          <a:prstGeom prst="rect">
            <a:avLst/>
          </a:prstGeom>
          <a:noFill/>
        </p:spPr>
        <p:txBody>
          <a:bodyPr wrap="square" lIns="0" rIns="0" tIns="0" bIns="0" anchor="t">
            <a:spAutoFit/>
          </a:bodyPr>
          <a:lstStyle/>
          <a:p>
            <a:pPr algn="r">
              <a:lnSpc>
                <a:spcPct val="125000"/>
              </a:lnSpc>
              <a:spcBef>
                <a:spcPts val="0"/>
              </a:spcBef>
              <a:spcAft>
                <a:spcPts val="0"/>
              </a:spcAft>
            </a:pPr>
            <a:r>
              <a:rPr sz="1350" b="1" i="0">
                <a:solidFill>
                  <a:srgbClr val="1B2430"/>
                </a:solidFill>
                <a:latin typeface="Consolas"/>
              </a:rPr>
              <a:t>0.0591</a:t>
            </a:r>
          </a:p>
        </p:txBody>
      </p:sp>
      <p:sp>
        <p:nvSpPr>
          <p:cNvPr id="20" name="TextBox 19"/>
          <p:cNvSpPr txBox="1"/>
          <p:nvPr/>
        </p:nvSpPr>
        <p:spPr>
          <a:xfrm>
            <a:off x="10850434" y="2615183"/>
            <a:ext cx="682892" cy="274320"/>
          </a:xfrm>
          <a:prstGeom prst="rect">
            <a:avLst/>
          </a:prstGeom>
          <a:noFill/>
        </p:spPr>
        <p:txBody>
          <a:bodyPr wrap="square" lIns="0" rIns="0" tIns="0" bIns="0" anchor="t">
            <a:spAutoFit/>
          </a:bodyPr>
          <a:lstStyle/>
          <a:p>
            <a:pPr algn="r">
              <a:lnSpc>
                <a:spcPct val="125000"/>
              </a:lnSpc>
              <a:spcBef>
                <a:spcPts val="0"/>
              </a:spcBef>
              <a:spcAft>
                <a:spcPts val="0"/>
              </a:spcAft>
            </a:pPr>
            <a:r>
              <a:rPr sz="1350" b="1" i="0">
                <a:solidFill>
                  <a:srgbClr val="1B2430"/>
                </a:solidFill>
                <a:latin typeface="Consolas"/>
              </a:rPr>
              <a:t>+0.350</a:t>
            </a:r>
          </a:p>
        </p:txBody>
      </p:sp>
      <p:sp>
        <p:nvSpPr>
          <p:cNvPr id="21" name="Rectangle 20"/>
          <p:cNvSpPr/>
          <p:nvPr/>
        </p:nvSpPr>
        <p:spPr>
          <a:xfrm>
            <a:off x="5440680" y="3361435"/>
            <a:ext cx="6184087" cy="1270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2120" y="3044951"/>
            <a:ext cx="1919709" cy="274320"/>
          </a:xfrm>
          <a:prstGeom prst="rect">
            <a:avLst/>
          </a:prstGeom>
          <a:noFill/>
        </p:spPr>
        <p:txBody>
          <a:bodyPr wrap="square" lIns="0" rIns="0" tIns="0" bIns="0" anchor="t">
            <a:spAutoFit/>
          </a:bodyPr>
          <a:lstStyle/>
          <a:p>
            <a:pPr algn="l">
              <a:lnSpc>
                <a:spcPct val="125000"/>
              </a:lnSpc>
              <a:spcBef>
                <a:spcPts val="0"/>
              </a:spcBef>
              <a:spcAft>
                <a:spcPts val="0"/>
              </a:spcAft>
            </a:pPr>
            <a:r>
              <a:rPr sz="1350" b="0" i="0">
                <a:solidFill>
                  <a:srgbClr val="3A4452"/>
                </a:solidFill>
                <a:latin typeface="Segoe UI"/>
              </a:rPr>
              <a:t>Codec</a:t>
            </a:r>
          </a:p>
        </p:txBody>
      </p:sp>
      <p:sp>
        <p:nvSpPr>
          <p:cNvPr id="23" name="TextBox 22"/>
          <p:cNvSpPr txBox="1"/>
          <p:nvPr/>
        </p:nvSpPr>
        <p:spPr>
          <a:xfrm>
            <a:off x="7634709" y="3044951"/>
            <a:ext cx="55921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13</a:t>
            </a:r>
          </a:p>
        </p:txBody>
      </p:sp>
      <p:sp>
        <p:nvSpPr>
          <p:cNvPr id="24" name="TextBox 23"/>
          <p:cNvSpPr txBox="1"/>
          <p:nvPr/>
        </p:nvSpPr>
        <p:spPr>
          <a:xfrm>
            <a:off x="8376800" y="3044951"/>
            <a:ext cx="130130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4/4/5</a:t>
            </a:r>
          </a:p>
        </p:txBody>
      </p:sp>
      <p:sp>
        <p:nvSpPr>
          <p:cNvPr id="25" name="TextBox 24"/>
          <p:cNvSpPr txBox="1"/>
          <p:nvPr/>
        </p:nvSpPr>
        <p:spPr>
          <a:xfrm>
            <a:off x="9860980" y="3044951"/>
            <a:ext cx="806573"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0.4922</a:t>
            </a:r>
          </a:p>
        </p:txBody>
      </p:sp>
      <p:sp>
        <p:nvSpPr>
          <p:cNvPr id="26" name="TextBox 25"/>
          <p:cNvSpPr txBox="1"/>
          <p:nvPr/>
        </p:nvSpPr>
        <p:spPr>
          <a:xfrm>
            <a:off x="10850434" y="3044951"/>
            <a:ext cx="682892"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+0.028</a:t>
            </a:r>
          </a:p>
        </p:txBody>
      </p:sp>
      <p:sp>
        <p:nvSpPr>
          <p:cNvPr id="27" name="Rectangle 26"/>
          <p:cNvSpPr/>
          <p:nvPr/>
        </p:nvSpPr>
        <p:spPr>
          <a:xfrm>
            <a:off x="5440680" y="3791203"/>
            <a:ext cx="6184087" cy="1270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3474719"/>
            <a:ext cx="1919709" cy="274320"/>
          </a:xfrm>
          <a:prstGeom prst="rect">
            <a:avLst/>
          </a:prstGeom>
          <a:noFill/>
        </p:spPr>
        <p:txBody>
          <a:bodyPr wrap="square" lIns="0" rIns="0" tIns="0" bIns="0" anchor="t">
            <a:spAutoFit/>
          </a:bodyPr>
          <a:lstStyle/>
          <a:p>
            <a:pPr algn="l">
              <a:lnSpc>
                <a:spcPct val="125000"/>
              </a:lnSpc>
              <a:spcBef>
                <a:spcPts val="0"/>
              </a:spcBef>
              <a:spcAft>
                <a:spcPts val="0"/>
              </a:spcAft>
            </a:pPr>
            <a:r>
              <a:rPr sz="1350" b="0" i="0">
                <a:solidFill>
                  <a:srgbClr val="3A4452"/>
                </a:solidFill>
                <a:latin typeface="Segoe UI"/>
              </a:rPr>
              <a:t>Csv</a:t>
            </a:r>
          </a:p>
        </p:txBody>
      </p:sp>
      <p:sp>
        <p:nvSpPr>
          <p:cNvPr id="29" name="TextBox 28"/>
          <p:cNvSpPr txBox="1"/>
          <p:nvPr/>
        </p:nvSpPr>
        <p:spPr>
          <a:xfrm>
            <a:off x="7634709" y="3474719"/>
            <a:ext cx="55921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10</a:t>
            </a:r>
          </a:p>
        </p:txBody>
      </p:sp>
      <p:sp>
        <p:nvSpPr>
          <p:cNvPr id="30" name="TextBox 29"/>
          <p:cNvSpPr txBox="1"/>
          <p:nvPr/>
        </p:nvSpPr>
        <p:spPr>
          <a:xfrm>
            <a:off x="8376800" y="3474719"/>
            <a:ext cx="130130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4/2/4</a:t>
            </a:r>
          </a:p>
        </p:txBody>
      </p:sp>
      <p:sp>
        <p:nvSpPr>
          <p:cNvPr id="31" name="TextBox 30"/>
          <p:cNvSpPr txBox="1"/>
          <p:nvPr/>
        </p:nvSpPr>
        <p:spPr>
          <a:xfrm>
            <a:off x="9860980" y="3474719"/>
            <a:ext cx="806573"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0.1250</a:t>
            </a:r>
          </a:p>
        </p:txBody>
      </p:sp>
      <p:sp>
        <p:nvSpPr>
          <p:cNvPr id="32" name="TextBox 31"/>
          <p:cNvSpPr txBox="1"/>
          <p:nvPr/>
        </p:nvSpPr>
        <p:spPr>
          <a:xfrm>
            <a:off x="10850434" y="3474719"/>
            <a:ext cx="682892"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+0.571</a:t>
            </a:r>
          </a:p>
        </p:txBody>
      </p:sp>
      <p:sp>
        <p:nvSpPr>
          <p:cNvPr id="33" name="Rectangle 32"/>
          <p:cNvSpPr/>
          <p:nvPr/>
        </p:nvSpPr>
        <p:spPr>
          <a:xfrm>
            <a:off x="5440680" y="4220971"/>
            <a:ext cx="6184087" cy="12700"/>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32120" y="3904487"/>
            <a:ext cx="1919709" cy="274320"/>
          </a:xfrm>
          <a:prstGeom prst="rect">
            <a:avLst/>
          </a:prstGeom>
          <a:noFill/>
        </p:spPr>
        <p:txBody>
          <a:bodyPr wrap="square" lIns="0" rIns="0" tIns="0" bIns="0" anchor="t">
            <a:spAutoFit/>
          </a:bodyPr>
          <a:lstStyle/>
          <a:p>
            <a:pPr algn="l">
              <a:lnSpc>
                <a:spcPct val="125000"/>
              </a:lnSpc>
              <a:spcBef>
                <a:spcPts val="0"/>
              </a:spcBef>
              <a:spcAft>
                <a:spcPts val="0"/>
              </a:spcAft>
            </a:pPr>
            <a:r>
              <a:rPr sz="1350" b="0" i="0">
                <a:solidFill>
                  <a:srgbClr val="3A4452"/>
                </a:solidFill>
                <a:latin typeface="Segoe UI"/>
              </a:rPr>
              <a:t>JacksonCore</a:t>
            </a:r>
          </a:p>
        </p:txBody>
      </p:sp>
      <p:sp>
        <p:nvSpPr>
          <p:cNvPr id="35" name="TextBox 34"/>
          <p:cNvSpPr txBox="1"/>
          <p:nvPr/>
        </p:nvSpPr>
        <p:spPr>
          <a:xfrm>
            <a:off x="7634709" y="3904487"/>
            <a:ext cx="55921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14</a:t>
            </a:r>
          </a:p>
        </p:txBody>
      </p:sp>
      <p:sp>
        <p:nvSpPr>
          <p:cNvPr id="36" name="TextBox 35"/>
          <p:cNvSpPr txBox="1"/>
          <p:nvPr/>
        </p:nvSpPr>
        <p:spPr>
          <a:xfrm>
            <a:off x="8376800" y="3904487"/>
            <a:ext cx="1301300"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9/3/2</a:t>
            </a:r>
          </a:p>
        </p:txBody>
      </p:sp>
      <p:sp>
        <p:nvSpPr>
          <p:cNvPr id="37" name="TextBox 36"/>
          <p:cNvSpPr txBox="1"/>
          <p:nvPr/>
        </p:nvSpPr>
        <p:spPr>
          <a:xfrm>
            <a:off x="9860980" y="3904487"/>
            <a:ext cx="806573"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0.1018</a:t>
            </a:r>
          </a:p>
        </p:txBody>
      </p:sp>
      <p:sp>
        <p:nvSpPr>
          <p:cNvPr id="38" name="TextBox 37"/>
          <p:cNvSpPr txBox="1"/>
          <p:nvPr/>
        </p:nvSpPr>
        <p:spPr>
          <a:xfrm>
            <a:off x="10850434" y="3904487"/>
            <a:ext cx="682892" cy="274320"/>
          </a:xfrm>
          <a:prstGeom prst="rect">
            <a:avLst/>
          </a:prstGeom>
          <a:noFill/>
        </p:spPr>
        <p:txBody>
          <a:bodyPr wrap="square" lIns="0" rIns="0" tIns="0" bIns="0" anchor="t">
            <a:spAutoFit/>
          </a:bodyPr>
          <a:lstStyle/>
          <a:p>
            <a:pPr algn="r">
              <a:lnSpc>
                <a:spcPct val="125000"/>
              </a:lnSpc>
              <a:spcBef>
                <a:spcPts val="0"/>
              </a:spcBef>
              <a:spcAft>
                <a:spcPts val="0"/>
              </a:spcAft>
            </a:pPr>
            <a:r>
              <a:rPr sz="1350" b="0" i="0">
                <a:solidFill>
                  <a:srgbClr val="3A4452"/>
                </a:solidFill>
                <a:latin typeface="Consolas"/>
              </a:rPr>
              <a:t>+0.436</a:t>
            </a:r>
          </a:p>
        </p:txBody>
      </p:sp>
      <p:sp>
        <p:nvSpPr>
          <p:cNvPr id="39" name="Rounded Rectangle 38"/>
          <p:cNvSpPr/>
          <p:nvPr/>
        </p:nvSpPr>
        <p:spPr>
          <a:xfrm>
            <a:off x="5440680" y="4443984"/>
            <a:ext cx="6184087" cy="1389888"/>
          </a:xfrm>
          <a:prstGeom prst="roundRect">
            <a:avLst>
              <a:gd name="adj" fmla="val 5000"/>
            </a:avLst>
          </a:prstGeom>
          <a:solidFill>
            <a:srgbClr val="FDF3E8"/>
          </a:solidFill>
          <a:ln w="15875">
            <a:solidFill>
              <a:srgbClr val="E8873A"/>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800"/>
              </a:spcAft>
            </a:pPr>
            <a:r>
              <a:rPr sz="1900" b="1" i="0">
                <a:solidFill>
                  <a:srgbClr val="E8873A"/>
                </a:solidFill>
                <a:latin typeface="Consolas"/>
              </a:rPr>
              <a:t>p = 0.0591  &gt;  α = 0.05</a:t>
            </a:r>
          </a:p>
          <a:p>
            <a:pPr algn="l">
              <a:lnSpc>
                <a:spcPct val="130000"/>
              </a:lnSpc>
              <a:spcBef>
                <a:spcPts val="0"/>
              </a:spcBef>
              <a:spcAft>
                <a:spcPts val="0"/>
              </a:spcAft>
            </a:pPr>
            <a:r>
              <a:rPr sz="1250" b="0" i="0">
                <a:solidFill>
                  <a:srgbClr val="3A4452"/>
                </a:solidFill>
                <a:latin typeface="Segoe UI"/>
              </a:rPr>
              <a:t>→ KHÔNG bác bỏ được H0 ở đơn vị pre-registered — dù r_rb = +0.350 đã đạt ngưỡng medium. Không subgroup nào đạt p &lt; 0.05; Csv có effect lớn nhất (+0.571) nhưng chỉ n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9503359" cy="237744"/>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KẾT QUẢ (2/2)</a:t>
            </a:r>
          </a:p>
        </p:txBody>
      </p:sp>
      <p:sp>
        <p:nvSpPr>
          <p:cNvPr id="3" name="TextBox 2"/>
          <p:cNvSpPr txBox="1"/>
          <p:nvPr/>
        </p:nvSpPr>
        <p:spPr>
          <a:xfrm>
            <a:off x="566928" y="603504"/>
            <a:ext cx="9503359" cy="566928"/>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1B2430"/>
                </a:solidFill>
                <a:latin typeface="Segoe UI"/>
              </a:rPr>
              <a:t>Ở cấp độ mutant, lợi thế là thật — nhưng không đều</a:t>
            </a:r>
          </a:p>
        </p:txBody>
      </p:sp>
      <p:sp>
        <p:nvSpPr>
          <p:cNvPr id="4" name="Rectangle 3"/>
          <p:cNvSpPr/>
          <p:nvPr/>
        </p:nvSpPr>
        <p:spPr>
          <a:xfrm>
            <a:off x="566928" y="1243584"/>
            <a:ext cx="822960" cy="406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1727" y="329184"/>
            <a:ext cx="1463040" cy="274320"/>
          </a:xfrm>
          <a:prstGeom prst="rect">
            <a:avLst/>
          </a:prstGeom>
          <a:noFill/>
        </p:spPr>
        <p:txBody>
          <a:bodyPr wrap="square" lIns="0" rIns="0" tIns="0" bIns="0" anchor="t">
            <a:spAutoFit/>
          </a:bodyPr>
          <a:lstStyle/>
          <a:p>
            <a:pPr algn="r">
              <a:lnSpc>
                <a:spcPct val="125000"/>
              </a:lnSpc>
              <a:spcBef>
                <a:spcPts val="0"/>
              </a:spcBef>
              <a:spcAft>
                <a:spcPts val="0"/>
              </a:spcAft>
            </a:pPr>
            <a:r>
              <a:rPr sz="1200" b="1" i="0">
                <a:solidFill>
                  <a:srgbClr val="778291"/>
                </a:solidFill>
                <a:latin typeface="Segoe UI"/>
              </a:rPr>
              <a:t>1,5 phút</a:t>
            </a:r>
          </a:p>
        </p:txBody>
      </p:sp>
      <p:sp>
        <p:nvSpPr>
          <p:cNvPr id="6" name="TextBox 5"/>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7/9</a:t>
            </a:r>
          </a:p>
        </p:txBody>
      </p:sp>
      <p:pic>
        <p:nvPicPr>
          <p:cNvPr id="7" name="Picture 6" descr="fig_by_project.png"/>
          <p:cNvPicPr>
            <a:picLocks noChangeAspect="1"/>
          </p:cNvPicPr>
          <p:nvPr/>
        </p:nvPicPr>
        <p:blipFill>
          <a:blip r:embed="rId2"/>
          <a:stretch>
            <a:fillRect/>
          </a:stretch>
        </p:blipFill>
        <p:spPr>
          <a:xfrm>
            <a:off x="795528" y="1645920"/>
            <a:ext cx="4003128" cy="2880360"/>
          </a:xfrm>
          <a:prstGeom prst="rect">
            <a:avLst/>
          </a:prstGeom>
        </p:spPr>
      </p:pic>
      <p:pic>
        <p:nvPicPr>
          <p:cNvPr id="8" name="Picture 7" descr="fig_paired_diff.png"/>
          <p:cNvPicPr>
            <a:picLocks noChangeAspect="1"/>
          </p:cNvPicPr>
          <p:nvPr/>
        </p:nvPicPr>
        <p:blipFill>
          <a:blip r:embed="rId3"/>
          <a:stretch>
            <a:fillRect/>
          </a:stretch>
        </p:blipFill>
        <p:spPr>
          <a:xfrm>
            <a:off x="6670000" y="1792224"/>
            <a:ext cx="4954767" cy="2606040"/>
          </a:xfrm>
          <a:prstGeom prst="rect">
            <a:avLst/>
          </a:prstGeom>
        </p:spPr>
      </p:pic>
      <p:sp>
        <p:nvSpPr>
          <p:cNvPr id="9" name="Rounded Rectangle 8"/>
          <p:cNvSpPr/>
          <p:nvPr/>
        </p:nvSpPr>
        <p:spPr>
          <a:xfrm>
            <a:off x="566928" y="4681728"/>
            <a:ext cx="3533546" cy="1463040"/>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28016"/>
          <a:lstStyle/>
          <a:p>
            <a:pPr algn="l">
              <a:lnSpc>
                <a:spcPct val="115000"/>
              </a:lnSpc>
              <a:spcBef>
                <a:spcPts val="0"/>
              </a:spcBef>
              <a:spcAft>
                <a:spcPts val="600"/>
              </a:spcAft>
            </a:pPr>
            <a:r>
              <a:rPr sz="1250" b="1" i="0">
                <a:solidFill>
                  <a:srgbClr val="1B2430"/>
                </a:solidFill>
                <a:latin typeface="Segoe UI"/>
              </a:rPr>
              <a:t>Mutant-weighted z-test</a:t>
            </a:r>
          </a:p>
          <a:p>
            <a:pPr algn="l">
              <a:lnSpc>
                <a:spcPct val="125000"/>
              </a:lnSpc>
              <a:spcBef>
                <a:spcPts val="0"/>
              </a:spcBef>
              <a:spcAft>
                <a:spcPts val="600"/>
              </a:spcAft>
            </a:pPr>
            <a:r>
              <a:rPr sz="1600" b="1" i="0">
                <a:solidFill>
                  <a:srgbClr val="1E7A53"/>
                </a:solidFill>
                <a:latin typeface="Consolas"/>
              </a:rPr>
              <a:t>z = 2.34    p = 0.0097</a:t>
            </a:r>
          </a:p>
          <a:p>
            <a:pPr algn="l">
              <a:lnSpc>
                <a:spcPct val="125000"/>
              </a:lnSpc>
              <a:spcBef>
                <a:spcPts val="0"/>
              </a:spcBef>
              <a:spcAft>
                <a:spcPts val="0"/>
              </a:spcAft>
            </a:pPr>
            <a:r>
              <a:rPr sz="1150" b="0" i="0">
                <a:solidFill>
                  <a:srgbClr val="3A4452"/>
                </a:solidFill>
                <a:latin typeface="Segoe UI"/>
              </a:rPr>
              <a:t>bác bỏ H0 ở cấp độ mutant</a:t>
            </a:r>
          </a:p>
        </p:txBody>
      </p:sp>
      <p:sp>
        <p:nvSpPr>
          <p:cNvPr id="10" name="Rounded Rectangle 9"/>
          <p:cNvSpPr/>
          <p:nvPr/>
        </p:nvSpPr>
        <p:spPr>
          <a:xfrm>
            <a:off x="4329074" y="4681728"/>
            <a:ext cx="3533546" cy="1463040"/>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28016"/>
          <a:lstStyle/>
          <a:p>
            <a:pPr algn="l">
              <a:lnSpc>
                <a:spcPct val="115000"/>
              </a:lnSpc>
              <a:spcBef>
                <a:spcPts val="0"/>
              </a:spcBef>
              <a:spcAft>
                <a:spcPts val="600"/>
              </a:spcAft>
            </a:pPr>
            <a:r>
              <a:rPr sz="1250" b="1" i="0">
                <a:solidFill>
                  <a:srgbClr val="1B2430"/>
                </a:solidFill>
                <a:latin typeface="Segoe UI"/>
              </a:rPr>
              <a:t>Monte Carlo 5,000 lượt random</a:t>
            </a:r>
          </a:p>
          <a:p>
            <a:pPr algn="l">
              <a:lnSpc>
                <a:spcPct val="125000"/>
              </a:lnSpc>
              <a:spcBef>
                <a:spcPts val="0"/>
              </a:spcBef>
              <a:spcAft>
                <a:spcPts val="600"/>
              </a:spcAft>
            </a:pPr>
            <a:r>
              <a:rPr sz="1600" b="1" i="0">
                <a:solidFill>
                  <a:srgbClr val="1E7A53"/>
                </a:solidFill>
                <a:latin typeface="Consolas"/>
              </a:rPr>
              <a:t>p = 0.0002    +3.64 sd</a:t>
            </a:r>
          </a:p>
          <a:p>
            <a:pPr algn="l">
              <a:lnSpc>
                <a:spcPct val="125000"/>
              </a:lnSpc>
              <a:spcBef>
                <a:spcPts val="0"/>
              </a:spcBef>
              <a:spcAft>
                <a:spcPts val="0"/>
              </a:spcAft>
            </a:pPr>
            <a:r>
              <a:rPr sz="1150" b="0" i="0">
                <a:solidFill>
                  <a:srgbClr val="3A4452"/>
                </a:solidFill>
                <a:latin typeface="Segoe UI"/>
              </a:rPr>
              <a:t>GPT vượt 4,999/5,000 lượt; seed 42 nằm ở percentile 52 — một lượt bốc rất bình thường</a:t>
            </a:r>
          </a:p>
        </p:txBody>
      </p:sp>
      <p:sp>
        <p:nvSpPr>
          <p:cNvPr id="11" name="Rounded Rectangle 10"/>
          <p:cNvSpPr/>
          <p:nvPr/>
        </p:nvSpPr>
        <p:spPr>
          <a:xfrm>
            <a:off x="8091220" y="4681728"/>
            <a:ext cx="3533546" cy="1463040"/>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28016"/>
          <a:lstStyle/>
          <a:p>
            <a:pPr algn="l">
              <a:lnSpc>
                <a:spcPct val="115000"/>
              </a:lnSpc>
              <a:spcBef>
                <a:spcPts val="0"/>
              </a:spcBef>
              <a:spcAft>
                <a:spcPts val="600"/>
              </a:spcAft>
            </a:pPr>
            <a:r>
              <a:rPr sz="1250" b="1" i="0">
                <a:solidFill>
                  <a:srgbClr val="1B2430"/>
                </a:solidFill>
                <a:latin typeface="Segoe UI"/>
              </a:rPr>
              <a:t>Không phải do né NO_COVERAGE</a:t>
            </a:r>
          </a:p>
          <a:p>
            <a:pPr algn="l">
              <a:lnSpc>
                <a:spcPct val="125000"/>
              </a:lnSpc>
              <a:spcBef>
                <a:spcPts val="0"/>
              </a:spcBef>
              <a:spcAft>
                <a:spcPts val="600"/>
              </a:spcAft>
            </a:pPr>
            <a:r>
              <a:rPr sz="1600" b="1" i="0">
                <a:solidFill>
                  <a:srgbClr val="1E7A53"/>
                </a:solidFill>
                <a:latin typeface="Consolas"/>
              </a:rPr>
              <a:t>0.864  vs  0.810</a:t>
            </a:r>
          </a:p>
          <a:p>
            <a:pPr algn="l">
              <a:lnSpc>
                <a:spcPct val="125000"/>
              </a:lnSpc>
              <a:spcBef>
                <a:spcPts val="0"/>
              </a:spcBef>
              <a:spcAft>
                <a:spcPts val="0"/>
              </a:spcAft>
            </a:pPr>
            <a:r>
              <a:rPr sz="1150" b="0" i="0">
                <a:solidFill>
                  <a:srgbClr val="3A4452"/>
                </a:solidFill>
                <a:latin typeface="Segoe UI"/>
              </a:rPr>
              <a:t>chỉ xét mutant có coverage, GPT vẫn hơn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9503359" cy="237744"/>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F5FA8"/>
                </a:solidFill>
                <a:latin typeface="Segoe UI"/>
              </a:rPr>
              <a:t>THẢO LUẬN &amp; HẠN CHẾ</a:t>
            </a:r>
          </a:p>
        </p:txBody>
      </p:sp>
      <p:sp>
        <p:nvSpPr>
          <p:cNvPr id="3" name="TextBox 2"/>
          <p:cNvSpPr txBox="1"/>
          <p:nvPr/>
        </p:nvSpPr>
        <p:spPr>
          <a:xfrm>
            <a:off x="566928" y="603504"/>
            <a:ext cx="9503359" cy="566928"/>
          </a:xfrm>
          <a:prstGeom prst="rect">
            <a:avLst/>
          </a:prstGeom>
          <a:noFill/>
        </p:spPr>
        <p:txBody>
          <a:bodyPr wrap="square" lIns="0" rIns="0" tIns="0" bIns="0" anchor="t">
            <a:spAutoFit/>
          </a:bodyPr>
          <a:lstStyle/>
          <a:p>
            <a:pPr algn="l">
              <a:lnSpc>
                <a:spcPct val="105000"/>
              </a:lnSpc>
              <a:spcBef>
                <a:spcPts val="0"/>
              </a:spcBef>
              <a:spcAft>
                <a:spcPts val="0"/>
              </a:spcAft>
            </a:pPr>
            <a:r>
              <a:rPr sz="2600" b="1" i="0">
                <a:solidFill>
                  <a:srgbClr val="1B2430"/>
                </a:solidFill>
                <a:latin typeface="Segoe UI"/>
              </a:rPr>
              <a:t>Vì sao hai kết luận trái nhau — và điều chưa trả lời được</a:t>
            </a:r>
          </a:p>
        </p:txBody>
      </p:sp>
      <p:sp>
        <p:nvSpPr>
          <p:cNvPr id="4" name="Rectangle 3"/>
          <p:cNvSpPr/>
          <p:nvPr/>
        </p:nvSpPr>
        <p:spPr>
          <a:xfrm>
            <a:off x="566928" y="1243584"/>
            <a:ext cx="822960" cy="4064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1727" y="329184"/>
            <a:ext cx="1463040" cy="274320"/>
          </a:xfrm>
          <a:prstGeom prst="rect">
            <a:avLst/>
          </a:prstGeom>
          <a:noFill/>
        </p:spPr>
        <p:txBody>
          <a:bodyPr wrap="square" lIns="0" rIns="0" tIns="0" bIns="0" anchor="t">
            <a:spAutoFit/>
          </a:bodyPr>
          <a:lstStyle/>
          <a:p>
            <a:pPr algn="r">
              <a:lnSpc>
                <a:spcPct val="125000"/>
              </a:lnSpc>
              <a:spcBef>
                <a:spcPts val="0"/>
              </a:spcBef>
              <a:spcAft>
                <a:spcPts val="0"/>
              </a:spcAft>
            </a:pPr>
            <a:r>
              <a:rPr sz="1200" b="1" i="0">
                <a:solidFill>
                  <a:srgbClr val="778291"/>
                </a:solidFill>
                <a:latin typeface="Segoe UI"/>
              </a:rPr>
              <a:t>1,5 phút</a:t>
            </a:r>
          </a:p>
        </p:txBody>
      </p:sp>
      <p:sp>
        <p:nvSpPr>
          <p:cNvPr id="6" name="TextBox 5"/>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8/9</a:t>
            </a:r>
          </a:p>
        </p:txBody>
      </p:sp>
      <p:sp>
        <p:nvSpPr>
          <p:cNvPr id="7" name="Rounded Rectangle 6"/>
          <p:cNvSpPr/>
          <p:nvPr/>
        </p:nvSpPr>
        <p:spPr>
          <a:xfrm>
            <a:off x="566928" y="1691640"/>
            <a:ext cx="5669280" cy="4160520"/>
          </a:xfrm>
          <a:prstGeom prst="roundRect">
            <a:avLst>
              <a:gd name="adj" fmla="val 5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1100"/>
              </a:spcAft>
            </a:pPr>
            <a:r>
              <a:rPr sz="1150" b="1" i="0">
                <a:solidFill>
                  <a:srgbClr val="1F5FA8"/>
                </a:solidFill>
                <a:latin typeface="Segoe UI"/>
              </a:rPr>
              <a:t>VÌ SAO?</a:t>
            </a:r>
          </a:p>
          <a:p>
            <a:pPr algn="l">
              <a:lnSpc>
                <a:spcPct val="128000"/>
              </a:lnSpc>
              <a:spcBef>
                <a:spcPts val="0"/>
              </a:spcBef>
              <a:spcAft>
                <a:spcPts val="1000"/>
              </a:spcAft>
            </a:pPr>
            <a:r>
              <a:rPr sz="1300" b="1" i="0">
                <a:solidFill>
                  <a:srgbClr val="1F5FA8"/>
                </a:solidFill>
                <a:latin typeface="Segoe UI"/>
              </a:rPr>
              <a:t>—  </a:t>
            </a:r>
            <a:r>
              <a:rPr sz="1300" b="1" i="0">
                <a:solidFill>
                  <a:srgbClr val="1B2430"/>
                </a:solidFill>
                <a:latin typeface="Segoe UI"/>
              </a:rPr>
              <a:t>Lợi thế tập trung, không đều. </a:t>
            </a:r>
            <a:r>
              <a:rPr sz="1300" b="0" i="0">
                <a:solidFill>
                  <a:srgbClr val="3A4452"/>
                </a:solidFill>
                <a:latin typeface="Segoe UI"/>
              </a:rPr>
              <a:t>63% số mutant giết thêm (32/51) đến từ 3 group parser lớn nhất của JacksonCore — code nhiều nhánh điều kiện, đủ chỗ để LLM phân biệt mutant nông và mutant sâu.</a:t>
            </a:r>
          </a:p>
          <a:p>
            <a:pPr algn="l">
              <a:lnSpc>
                <a:spcPct val="128000"/>
              </a:lnSpc>
              <a:spcBef>
                <a:spcPts val="0"/>
              </a:spcBef>
              <a:spcAft>
                <a:spcPts val="1000"/>
              </a:spcAft>
            </a:pPr>
            <a:r>
              <a:rPr sz="1300" b="1" i="0">
                <a:solidFill>
                  <a:srgbClr val="1F5FA8"/>
                </a:solidFill>
                <a:latin typeface="Segoe UI"/>
              </a:rPr>
              <a:t>—  </a:t>
            </a:r>
            <a:r>
              <a:rPr sz="1300" b="1" i="0">
                <a:solidFill>
                  <a:srgbClr val="1B2430"/>
                </a:solidFill>
                <a:latin typeface="Segoe UI"/>
              </a:rPr>
              <a:t>Codec bị hiệu ứng trần. </a:t>
            </a:r>
            <a:r>
              <a:rPr sz="1300" b="0" i="0">
                <a:solidFill>
                  <a:srgbClr val="3A4452"/>
                </a:solidFill>
                <a:latin typeface="Segoe UI"/>
              </a:rPr>
              <a:t>Pool đã KILLED sẵn 84.9% → chọn khéo và chọn bừa hội tụ về cùng kết quả (4 thắng / 4 thua / 5 hòa).</a:t>
            </a:r>
          </a:p>
          <a:p>
            <a:pPr algn="l">
              <a:lnSpc>
                <a:spcPct val="128000"/>
              </a:lnSpc>
              <a:spcBef>
                <a:spcPts val="0"/>
              </a:spcBef>
              <a:spcAft>
                <a:spcPts val="1000"/>
              </a:spcAft>
            </a:pPr>
            <a:r>
              <a:rPr sz="1300" b="1" i="0">
                <a:solidFill>
                  <a:srgbClr val="1F5FA8"/>
                </a:solidFill>
                <a:latin typeface="Segoe UI"/>
              </a:rPr>
              <a:t>—  </a:t>
            </a:r>
            <a:r>
              <a:rPr sz="1300" b="1" i="0">
                <a:solidFill>
                  <a:srgbClr val="1B2430"/>
                </a:solidFill>
                <a:latin typeface="Segoe UI"/>
              </a:rPr>
              <a:t>Đơn vị phân tích quyết định kết luận. </a:t>
            </a:r>
            <a:r>
              <a:rPr sz="1300" b="0" i="0">
                <a:solidFill>
                  <a:srgbClr val="3A4452"/>
                </a:solidFill>
                <a:latin typeface="Segoe UI"/>
              </a:rPr>
              <a:t>Test theo group cho group k=1 và group k=173 cùng trọng số, cộng 30% cặp hòa → triệt tiêu thông tin xếp hạng của Wilcoxon. Không mâu thuẫn — là hai câu hỏi khác nhau: “GPT thắng ở đa số class?” (chưa chứng minh được) và “tập GPT chọn giết nhiều mutant hơn?” (có).</a:t>
            </a:r>
          </a:p>
        </p:txBody>
      </p:sp>
      <p:sp>
        <p:nvSpPr>
          <p:cNvPr id="8" name="Rounded Rectangle 7"/>
          <p:cNvSpPr/>
          <p:nvPr/>
        </p:nvSpPr>
        <p:spPr>
          <a:xfrm>
            <a:off x="6510528" y="1691640"/>
            <a:ext cx="5114239" cy="4160520"/>
          </a:xfrm>
          <a:prstGeom prst="roundRect">
            <a:avLst>
              <a:gd name="adj" fmla="val 5000"/>
            </a:avLst>
          </a:prstGeom>
          <a:solidFill>
            <a:srgbClr val="FDF3E8"/>
          </a:solidFill>
          <a:ln w="15875">
            <a:solidFill>
              <a:srgbClr val="E8873A"/>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bIns="128016"/>
          <a:lstStyle/>
          <a:p>
            <a:pPr algn="l">
              <a:lnSpc>
                <a:spcPct val="125000"/>
              </a:lnSpc>
              <a:spcBef>
                <a:spcPts val="0"/>
              </a:spcBef>
              <a:spcAft>
                <a:spcPts val="1100"/>
              </a:spcAft>
            </a:pPr>
            <a:r>
              <a:rPr sz="1150" b="1" i="0">
                <a:solidFill>
                  <a:srgbClr val="E8873A"/>
                </a:solidFill>
                <a:latin typeface="Segoe UI"/>
              </a:rPr>
              <a:t>HẠN CHẾ</a:t>
            </a:r>
          </a:p>
          <a:p>
            <a:pPr algn="l">
              <a:lnSpc>
                <a:spcPct val="128000"/>
              </a:lnSpc>
              <a:spcBef>
                <a:spcPts val="0"/>
              </a:spcBef>
              <a:spcAft>
                <a:spcPts val="1000"/>
              </a:spcAft>
            </a:pPr>
            <a:r>
              <a:rPr sz="1300" b="1" i="0">
                <a:solidFill>
                  <a:srgbClr val="E8873A"/>
                </a:solidFill>
                <a:latin typeface="Segoe UI"/>
              </a:rPr>
              <a:t>▸  </a:t>
            </a:r>
            <a:r>
              <a:rPr sz="1300" b="1" i="0">
                <a:solidFill>
                  <a:srgbClr val="1B2430"/>
                </a:solidFill>
                <a:latin typeface="Segoe UI"/>
              </a:rPr>
              <a:t>N = 37 group → power thấp.</a:t>
            </a:r>
            <a:r>
              <a:rPr sz="1300" b="0" i="0">
                <a:solidFill>
                  <a:srgbClr val="3A4452"/>
                </a:solidFill>
                <a:latin typeface="Segoe UI"/>
              </a:rPr>
              <a:t> Bài học: số CLASS mới quyết định n, không phải số project.</a:t>
            </a:r>
          </a:p>
          <a:p>
            <a:pPr algn="l">
              <a:lnSpc>
                <a:spcPct val="128000"/>
              </a:lnSpc>
              <a:spcBef>
                <a:spcPts val="0"/>
              </a:spcBef>
              <a:spcAft>
                <a:spcPts val="1000"/>
              </a:spcAft>
            </a:pPr>
            <a:r>
              <a:rPr sz="1300" b="1" i="0">
                <a:solidFill>
                  <a:srgbClr val="E8873A"/>
                </a:solidFill>
                <a:latin typeface="Segoe UI"/>
              </a:rPr>
              <a:t>▸  </a:t>
            </a:r>
            <a:r>
              <a:rPr sz="1300" b="1" i="0">
                <a:solidFill>
                  <a:srgbClr val="1B2430"/>
                </a:solidFill>
                <a:latin typeface="Segoe UI"/>
              </a:rPr>
              <a:t>Thang điểm 1–5 quá thô.</a:t>
            </a:r>
            <a:r>
              <a:rPr sz="1300" b="0" i="0">
                <a:solidFill>
                  <a:srgbClr val="3A4452"/>
                </a:solidFill>
                <a:latin typeface="Segoe UI"/>
              </a:rPr>
              <a:t> Sinh ra 11/37 cặp hòa — nguồn mất mát thông tin chính.</a:t>
            </a:r>
          </a:p>
          <a:p>
            <a:pPr algn="l">
              <a:lnSpc>
                <a:spcPct val="128000"/>
              </a:lnSpc>
              <a:spcBef>
                <a:spcPts val="0"/>
              </a:spcBef>
              <a:spcAft>
                <a:spcPts val="1000"/>
              </a:spcAft>
            </a:pPr>
            <a:r>
              <a:rPr sz="1300" b="1" i="0">
                <a:solidFill>
                  <a:srgbClr val="E8873A"/>
                </a:solidFill>
                <a:latin typeface="Segoe UI"/>
              </a:rPr>
              <a:t>▸  </a:t>
            </a:r>
            <a:r>
              <a:rPr sz="1300" b="1" i="0">
                <a:solidFill>
                  <a:srgbClr val="1B2430"/>
                </a:solidFill>
                <a:latin typeface="Segoe UI"/>
              </a:rPr>
              <a:t>Chỉ một seed (42) cho random.</a:t>
            </a:r>
            <a:r>
              <a:rPr sz="1300" b="0" i="0">
                <a:solidFill>
                  <a:srgbClr val="3A4452"/>
                </a:solidFill>
                <a:latin typeface="Segoe UI"/>
              </a:rPr>
              <a:t> Đã bù bằng Monte Carlo 5,000 lượt; seed 42 ở percentile 52.</a:t>
            </a:r>
          </a:p>
          <a:p>
            <a:pPr algn="l">
              <a:lnSpc>
                <a:spcPct val="128000"/>
              </a:lnSpc>
              <a:spcBef>
                <a:spcPts val="0"/>
              </a:spcBef>
              <a:spcAft>
                <a:spcPts val="1000"/>
              </a:spcAft>
            </a:pPr>
            <a:r>
              <a:rPr sz="1300" b="1" i="0">
                <a:solidFill>
                  <a:srgbClr val="E8873A"/>
                </a:solidFill>
                <a:latin typeface="Segoe UI"/>
              </a:rPr>
              <a:t>▸  </a:t>
            </a:r>
            <a:r>
              <a:rPr sz="1300" b="1" i="0">
                <a:solidFill>
                  <a:srgbClr val="1B2430"/>
                </a:solidFill>
                <a:latin typeface="Segoe UI"/>
              </a:rPr>
              <a:t>Phạm vi hẹp.</a:t>
            </a:r>
            <a:r>
              <a:rPr sz="1300" b="0" i="0">
                <a:solidFill>
                  <a:srgbClr val="3A4452"/>
                </a:solidFill>
                <a:latin typeface="Segoe UI"/>
              </a:rPr>
              <a:t> 3 project Java / 20 class / 1 mô hình — không tổng quát hoá cho mọi project, ngôn ngữ hay LLM khác.</a:t>
            </a:r>
          </a:p>
          <a:p>
            <a:pPr algn="l">
              <a:lnSpc>
                <a:spcPct val="128000"/>
              </a:lnSpc>
              <a:spcBef>
                <a:spcPts val="0"/>
              </a:spcBef>
              <a:spcAft>
                <a:spcPts val="1000"/>
              </a:spcAft>
            </a:pPr>
            <a:r>
              <a:rPr sz="1300" b="1" i="0">
                <a:solidFill>
                  <a:srgbClr val="E8873A"/>
                </a:solidFill>
                <a:latin typeface="Segoe UI"/>
              </a:rPr>
              <a:t>▸  </a:t>
            </a:r>
            <a:r>
              <a:rPr sz="1300" b="1" i="0">
                <a:solidFill>
                  <a:srgbClr val="1B2430"/>
                </a:solidFill>
                <a:latin typeface="Segoe UI"/>
              </a:rPr>
              <a:t>MS ≠ bắt được bug thật.</a:t>
            </a:r>
            <a:r>
              <a:rPr sz="1300" b="0" i="0">
                <a:solidFill>
                  <a:srgbClr val="3A4452"/>
                </a:solidFill>
                <a:latin typeface="Segoe UI"/>
              </a:rPr>
              <a:t> “Usefulness” mà prompt hỏi không trùng hoàn toàn với “killability” mà MS đo.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881567" y="6400800"/>
            <a:ext cx="2743200" cy="256032"/>
          </a:xfrm>
          <a:prstGeom prst="rect">
            <a:avLst/>
          </a:prstGeom>
          <a:noFill/>
        </p:spPr>
        <p:txBody>
          <a:bodyPr wrap="square" lIns="0" rIns="0" tIns="0" bIns="0" anchor="t">
            <a:spAutoFit/>
          </a:bodyPr>
          <a:lstStyle/>
          <a:p>
            <a:pPr algn="r">
              <a:lnSpc>
                <a:spcPct val="125000"/>
              </a:lnSpc>
              <a:spcBef>
                <a:spcPts val="0"/>
              </a:spcBef>
              <a:spcAft>
                <a:spcPts val="0"/>
              </a:spcAft>
            </a:pPr>
            <a:r>
              <a:rPr sz="1000" b="0" i="0">
                <a:solidFill>
                  <a:srgbClr val="778291"/>
                </a:solidFill>
                <a:latin typeface="Segoe UI"/>
              </a:rPr>
              <a:t>SWT301 · RT-SWT-003 Nhóm 3   |   9/9</a:t>
            </a:r>
          </a:p>
        </p:txBody>
      </p:sp>
      <p:sp>
        <p:nvSpPr>
          <p:cNvPr id="3" name="Rectangle 2"/>
          <p:cNvSpPr/>
          <p:nvPr/>
        </p:nvSpPr>
        <p:spPr>
          <a:xfrm>
            <a:off x="0" y="0"/>
            <a:ext cx="12191695" cy="118872"/>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475488"/>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1200" b="1" i="0">
                <a:solidFill>
                  <a:srgbClr val="1F5FA8"/>
                </a:solidFill>
                <a:latin typeface="Segoe UI"/>
              </a:rPr>
              <a:t>KẾT LUẬN &amp; HƯỚNG PHÁT TRIỂN</a:t>
            </a:r>
          </a:p>
        </p:txBody>
      </p:sp>
      <p:sp>
        <p:nvSpPr>
          <p:cNvPr id="5" name="Rounded Rectangle 4"/>
          <p:cNvSpPr/>
          <p:nvPr/>
        </p:nvSpPr>
        <p:spPr>
          <a:xfrm>
            <a:off x="566928" y="914400"/>
            <a:ext cx="11057839" cy="2286000"/>
          </a:xfrm>
          <a:prstGeom prst="roundRect">
            <a:avLst>
              <a:gd name="adj" fmla="val 5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329184" tIns="182880" bIns="128016"/>
          <a:lstStyle/>
          <a:p>
            <a:pPr algn="l">
              <a:lnSpc>
                <a:spcPct val="125000"/>
              </a:lnSpc>
              <a:spcBef>
                <a:spcPts val="0"/>
              </a:spcBef>
              <a:spcAft>
                <a:spcPts val="1300"/>
              </a:spcAft>
            </a:pPr>
            <a:r>
              <a:rPr sz="2900" b="1" i="0">
                <a:solidFill>
                  <a:srgbClr val="FFFFFF"/>
                </a:solidFill>
                <a:latin typeface="Segoe UI"/>
              </a:rPr>
              <a:t>TRẢ LỜI RQ1:  PARTIAL SUPPORT</a:t>
            </a:r>
          </a:p>
          <a:p>
            <a:pPr algn="l">
              <a:lnSpc>
                <a:spcPct val="128000"/>
              </a:lnSpc>
              <a:spcBef>
                <a:spcPts val="0"/>
              </a:spcBef>
              <a:spcAft>
                <a:spcPts val="800"/>
              </a:spcAft>
            </a:pPr>
            <a:r>
              <a:rPr sz="1350" b="1" i="0">
                <a:solidFill>
                  <a:srgbClr val="8FB6E8"/>
                </a:solidFill>
                <a:latin typeface="Segoe UI"/>
              </a:rPr>
              <a:t>Kiểm định pre-registered (theo group):</a:t>
            </a:r>
            <a:r>
              <a:rPr sz="1350" b="0" i="0">
                <a:solidFill>
                  <a:srgbClr val="E8EDF3"/>
                </a:solidFill>
                <a:latin typeface="Segoe UI"/>
              </a:rPr>
              <a:t>  p = 0.059, r_rb = +0.350, N = 37 → chưa đủ bằng chứng bác bỏ H0.</a:t>
            </a:r>
          </a:p>
          <a:p>
            <a:pPr algn="l">
              <a:lnSpc>
                <a:spcPct val="128000"/>
              </a:lnSpc>
              <a:spcBef>
                <a:spcPts val="0"/>
              </a:spcBef>
              <a:spcAft>
                <a:spcPts val="800"/>
              </a:spcAft>
            </a:pPr>
            <a:r>
              <a:rPr sz="1350" b="1" i="0">
                <a:solidFill>
                  <a:srgbClr val="8FB6E8"/>
                </a:solidFill>
                <a:latin typeface="Segoe UI"/>
              </a:rPr>
              <a:t>Ở cấp độ mutant:</a:t>
            </a:r>
            <a:r>
              <a:rPr sz="1350" b="0" i="0">
                <a:solidFill>
                  <a:srgbClr val="E8EDF3"/>
                </a:solidFill>
                <a:latin typeface="Segoe UI"/>
              </a:rPr>
              <a:t>  0.716 vs 0.670 (+4.6 điểm), z-test p = 0.0097, Monte Carlo p = 0.0002 → tín hiệu chọn là thật.</a:t>
            </a:r>
          </a:p>
          <a:p>
            <a:pPr algn="l">
              <a:lnSpc>
                <a:spcPct val="128000"/>
              </a:lnSpc>
              <a:spcBef>
                <a:spcPts val="0"/>
              </a:spcBef>
              <a:spcAft>
                <a:spcPts val="800"/>
              </a:spcAft>
            </a:pPr>
            <a:r>
              <a:rPr sz="1350" b="1" i="0">
                <a:solidFill>
                  <a:srgbClr val="8FB6E8"/>
                </a:solidFill>
                <a:latin typeface="Segoe UI"/>
              </a:rPr>
              <a:t>Nhưng không đều:</a:t>
            </a:r>
            <a:r>
              <a:rPr sz="1350" b="0" i="0">
                <a:solidFill>
                  <a:srgbClr val="E8EDF3"/>
                </a:solidFill>
                <a:latin typeface="Segoe UI"/>
              </a:rPr>
              <a:t>  mạnh ở parser phức tạp (JacksonCore 9 thắng / 3 thua), biến mất khi test suite đã gần bão hoà (Codec, MS nền 84.9%).</a:t>
            </a:r>
          </a:p>
        </p:txBody>
      </p:sp>
      <p:sp>
        <p:nvSpPr>
          <p:cNvPr id="6" name="TextBox 5"/>
          <p:cNvSpPr txBox="1"/>
          <p:nvPr/>
        </p:nvSpPr>
        <p:spPr>
          <a:xfrm>
            <a:off x="566928" y="3419856"/>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1200" b="1" i="0">
                <a:solidFill>
                  <a:srgbClr val="1F5FA8"/>
                </a:solidFill>
                <a:latin typeface="Segoe UI"/>
              </a:rPr>
              <a:t>HƯỚNG PHÁT TRIỂN</a:t>
            </a:r>
          </a:p>
        </p:txBody>
      </p:sp>
      <p:sp>
        <p:nvSpPr>
          <p:cNvPr id="7" name="Rounded Rectangle 6"/>
          <p:cNvSpPr/>
          <p:nvPr/>
        </p:nvSpPr>
        <p:spPr>
          <a:xfrm>
            <a:off x="566928" y="3767328"/>
            <a:ext cx="3533546" cy="1783080"/>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82880" bIns="128016"/>
          <a:lstStyle/>
          <a:p>
            <a:pPr algn="l">
              <a:lnSpc>
                <a:spcPct val="125000"/>
              </a:lnSpc>
              <a:spcBef>
                <a:spcPts val="0"/>
              </a:spcBef>
              <a:spcAft>
                <a:spcPts val="700"/>
              </a:spcAft>
            </a:pPr>
            <a:r>
              <a:rPr sz="1300" b="1" i="0">
                <a:solidFill>
                  <a:srgbClr val="E8873A"/>
                </a:solidFill>
                <a:latin typeface="Segoe UI"/>
              </a:rPr>
              <a:t>01</a:t>
            </a:r>
          </a:p>
          <a:p>
            <a:pPr algn="l">
              <a:lnSpc>
                <a:spcPct val="115000"/>
              </a:lnSpc>
              <a:spcBef>
                <a:spcPts val="0"/>
              </a:spcBef>
              <a:spcAft>
                <a:spcPts val="700"/>
              </a:spcAft>
            </a:pPr>
            <a:r>
              <a:rPr sz="1500" b="1" i="0">
                <a:solidFill>
                  <a:srgbClr val="1B2430"/>
                </a:solidFill>
                <a:latin typeface="Segoe UI"/>
              </a:rPr>
              <a:t>Tăng power đúng đòn bẩy</a:t>
            </a:r>
          </a:p>
          <a:p>
            <a:pPr algn="l">
              <a:lnSpc>
                <a:spcPct val="130000"/>
              </a:lnSpc>
              <a:spcBef>
                <a:spcPts val="0"/>
              </a:spcBef>
              <a:spcAft>
                <a:spcPts val="0"/>
              </a:spcAft>
            </a:pPr>
            <a:r>
              <a:rPr sz="1250" b="0" i="0">
                <a:solidFill>
                  <a:srgbClr val="3A4452"/>
                </a:solidFill>
                <a:latin typeface="Segoe UI"/>
              </a:rPr>
              <a:t>Thêm CLASS trong cùng project (chạy PIT full scope thay vì chỉ class bị patch đụng vào), không phải thêm project.</a:t>
            </a:r>
          </a:p>
        </p:txBody>
      </p:sp>
      <p:sp>
        <p:nvSpPr>
          <p:cNvPr id="8" name="Rounded Rectangle 7"/>
          <p:cNvSpPr/>
          <p:nvPr/>
        </p:nvSpPr>
        <p:spPr>
          <a:xfrm>
            <a:off x="4329074" y="3767328"/>
            <a:ext cx="3533546" cy="1783080"/>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82880" bIns="128016"/>
          <a:lstStyle/>
          <a:p>
            <a:pPr algn="l">
              <a:lnSpc>
                <a:spcPct val="125000"/>
              </a:lnSpc>
              <a:spcBef>
                <a:spcPts val="0"/>
              </a:spcBef>
              <a:spcAft>
                <a:spcPts val="700"/>
              </a:spcAft>
            </a:pPr>
            <a:r>
              <a:rPr sz="1300" b="1" i="0">
                <a:solidFill>
                  <a:srgbClr val="E8873A"/>
                </a:solidFill>
                <a:latin typeface="Segoe UI"/>
              </a:rPr>
              <a:t>02</a:t>
            </a:r>
          </a:p>
          <a:p>
            <a:pPr algn="l">
              <a:lnSpc>
                <a:spcPct val="115000"/>
              </a:lnSpc>
              <a:spcBef>
                <a:spcPts val="0"/>
              </a:spcBef>
              <a:spcAft>
                <a:spcPts val="700"/>
              </a:spcAft>
            </a:pPr>
            <a:r>
              <a:rPr sz="1500" b="1" i="0">
                <a:solidFill>
                  <a:srgbClr val="1B2430"/>
                </a:solidFill>
                <a:latin typeface="Segoe UI"/>
              </a:rPr>
              <a:t>Kiểm định giả thuyết độ phức tạp</a:t>
            </a:r>
          </a:p>
          <a:p>
            <a:pPr algn="l">
              <a:lnSpc>
                <a:spcPct val="130000"/>
              </a:lnSpc>
              <a:spcBef>
                <a:spcPts val="0"/>
              </a:spcBef>
              <a:spcAft>
                <a:spcPts val="0"/>
              </a:spcAft>
            </a:pPr>
            <a:r>
              <a:rPr sz="1250" b="0" i="0">
                <a:solidFill>
                  <a:srgbClr val="3A4452"/>
                </a:solidFill>
                <a:latin typeface="Segoe UI"/>
              </a:rPr>
              <a:t>Phân tầng kết quả theo cyclomatic complexity để xác nhận trực tiếp mẫu “LLM giúp nhiều nhất ở code phức tạp”.</a:t>
            </a:r>
          </a:p>
        </p:txBody>
      </p:sp>
      <p:sp>
        <p:nvSpPr>
          <p:cNvPr id="9" name="Rounded Rectangle 8"/>
          <p:cNvSpPr/>
          <p:nvPr/>
        </p:nvSpPr>
        <p:spPr>
          <a:xfrm>
            <a:off x="8091220" y="3767328"/>
            <a:ext cx="3533546" cy="1783080"/>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82880" bIns="128016"/>
          <a:lstStyle/>
          <a:p>
            <a:pPr algn="l">
              <a:lnSpc>
                <a:spcPct val="125000"/>
              </a:lnSpc>
              <a:spcBef>
                <a:spcPts val="0"/>
              </a:spcBef>
              <a:spcAft>
                <a:spcPts val="700"/>
              </a:spcAft>
            </a:pPr>
            <a:r>
              <a:rPr sz="1300" b="1" i="0">
                <a:solidFill>
                  <a:srgbClr val="E8873A"/>
                </a:solidFill>
                <a:latin typeface="Segoe UI"/>
              </a:rPr>
              <a:t>03</a:t>
            </a:r>
          </a:p>
          <a:p>
            <a:pPr algn="l">
              <a:lnSpc>
                <a:spcPct val="115000"/>
              </a:lnSpc>
              <a:spcBef>
                <a:spcPts val="0"/>
              </a:spcBef>
              <a:spcAft>
                <a:spcPts val="700"/>
              </a:spcAft>
            </a:pPr>
            <a:r>
              <a:rPr sz="1500" b="1" i="0">
                <a:solidFill>
                  <a:srgbClr val="1B2430"/>
                </a:solidFill>
                <a:latin typeface="Segoe UI"/>
              </a:rPr>
              <a:t>Tăng độ phân giải điểm</a:t>
            </a:r>
          </a:p>
          <a:p>
            <a:pPr algn="l">
              <a:lnSpc>
                <a:spcPct val="130000"/>
              </a:lnSpc>
              <a:spcBef>
                <a:spcPts val="0"/>
              </a:spcBef>
              <a:spcAft>
                <a:spcPts val="0"/>
              </a:spcAft>
            </a:pPr>
            <a:r>
              <a:rPr sz="1250" b="0" i="0">
                <a:solidFill>
                  <a:srgbClr val="3A4452"/>
                </a:solidFill>
                <a:latin typeface="Segoe UI"/>
              </a:rPr>
              <a:t>Thay thang 1–5 bằng pairwise ranking hoặc kill probability đã hiệu chỉnh, để giảm số cặp hòa.</a:t>
            </a:r>
          </a:p>
        </p:txBody>
      </p:sp>
      <p:sp>
        <p:nvSpPr>
          <p:cNvPr id="10" name="Rounded Rectangle 9"/>
          <p:cNvSpPr/>
          <p:nvPr/>
        </p:nvSpPr>
        <p:spPr>
          <a:xfrm>
            <a:off x="566928" y="5742432"/>
            <a:ext cx="11057839" cy="603504"/>
          </a:xfrm>
          <a:prstGeom prst="roundRect">
            <a:avLst>
              <a:gd name="adj" fmla="val 5000"/>
            </a:avLst>
          </a:prstGeom>
          <a:solidFill>
            <a:srgbClr val="F3F6FA"/>
          </a:solidFill>
          <a:ln w="1587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28016"/>
          <a:lstStyle/>
          <a:p>
            <a:pPr algn="l">
              <a:lnSpc>
                <a:spcPct val="125000"/>
              </a:lnSpc>
              <a:spcBef>
                <a:spcPts val="0"/>
              </a:spcBef>
              <a:spcAft>
                <a:spcPts val="0"/>
              </a:spcAft>
            </a:pPr>
            <a:r>
              <a:rPr sz="1300" b="0" i="0">
                <a:solidFill>
                  <a:srgbClr val="3A4452"/>
                </a:solidFill>
                <a:latin typeface="Segoe UI"/>
              </a:rPr>
              <a:t>Replication package:  </a:t>
            </a:r>
            <a:r>
              <a:rPr sz="1300" b="1" i="0">
                <a:solidFill>
                  <a:srgbClr val="1F5FA8"/>
                </a:solidFill>
                <a:latin typeface="Consolas"/>
              </a:rPr>
              <a:t>github.com/KhoiPhanDinh/RT-SWT-003-nhom3</a:t>
            </a:r>
            <a:r>
              <a:rPr sz="1300" b="0" i="1">
                <a:solidFill>
                  <a:srgbClr val="778291"/>
                </a:solidFill>
                <a:latin typeface="Segoe UI"/>
              </a:rPr>
              <a:t>        Cảm ơn thầy/cô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