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03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trong 20–30 giây: nêu bài toán, phương pháp so sánh và phạm vi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đây là khoảng trống đánh giá trực tiếp, không phải tuyên bố Java/Defects4J chưa từng được dùng.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60 giây. Không đọc tên tất cả paper; nói theo 4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Giáo viên có thể hỏi: threshold từ đâu? Trả lời ngay: 10% là budget source gần nhất từ AL-PMT; r_rb ≥ 0.30 là medium effect; claim vẫn comparative.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Tập trung vào fairness: cùng pool, cùng budget, cùng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bị hỏi tại sao không full Defects4J: đây là pilot tầm trung, giới hạn bởi 4 tuần và thời gian PIT.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dùng Wilcoxon: paired data, không yêu cầu normality.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đọc hết; nêu 2 threat quan trọng nhất: limited context cho LLM và sample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feasibility: chi phí thấp, scope kiểm soát được, có contingency.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20 giây: contribution không phụ thuộc việc H1 có được ủng hộ hay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Mời câu hỏi. Có thể mở lại slide 4 nếu bị hỏi threshold hoặc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NHÓM 3  •  PROPOSAL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0" y="6510528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GPT-4o mini-based Mutant Selection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6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900000">
            <a:off x="2971800" y="-411480"/>
            <a:ext cx="2057400" cy="2057400"/>
          </a:xfrm>
          <a:prstGeom prst="arc">
            <a:avLst/>
          </a:prstGeom>
          <a:solidFill>
            <a:srgbClr val="2F80ED">
              <a:alpha val="70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0">
            <a:off x="2514600" y="4983480"/>
            <a:ext cx="2468880" cy="2468880"/>
          </a:xfrm>
          <a:prstGeom prst="arc">
            <a:avLst/>
          </a:prstGeom>
          <a:solidFill>
            <a:srgbClr val="14919B">
              <a:alpha val="80000"/>
            </a:srgbClr>
          </a:solidFill>
          <a:ln w="12700">
            <a:solidFill>
              <a:srgbClr val="1491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640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PROPOSAL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DEFENSE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" y="1856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FF"/>
                </a:solidFill>
              </a:rPr>
              <a:t>Mutation Testing  •  LLM  •  Java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5968" y="1024128"/>
            <a:ext cx="7086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GPT-4o mini-based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Mutant Selection for Java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Mutation Testing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52544" y="3154680"/>
            <a:ext cx="6812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C667A"/>
                </a:solidFill>
              </a:rPr>
              <a:t>So sánh trực tiếp với random fixed-seed selection dưới cùng top 10% mutant budget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1688" y="3986784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4059936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57A6"/>
                </a:solidFill>
              </a:rPr>
              <a:t>Defects4J + PIT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398678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73952" y="405993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919B"/>
                </a:solidFill>
              </a:rPr>
              <a:t>Wilcoxon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65592" y="3986784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38744" y="405993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α = 0.05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902952" y="398678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2ECFF"/>
          </a:solidFill>
          <a:ln w="12700">
            <a:solidFill>
              <a:srgbClr val="F2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76104" y="4059936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5BD0"/>
                </a:solidFill>
              </a:rPr>
              <a:t>4 tuần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61688" y="4864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Nhóm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61688" y="523036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C667A"/>
                </a:solidFill>
              </a:rPr>
              <a:t>Phạm Mạnh Quỳnh · Phan Nguyễn Đình Khôi · Nguyễn Nhật Anh · Nguyễn Trường Vinh · Trần Trúc Vy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61688" y="5989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497"/>
                </a:solidFill>
              </a:rPr>
              <a:t>Research Proposal  •  Version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Vấn đề nghiên cứu và khoảng trống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Từ chi phí mutation testing đến câu hỏi “LLM có thực sự chọn mutant tốt hơn random?”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21792" y="1261872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261872"/>
            <a:ext cx="73152" cy="4160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26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Bối cảnh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92224"/>
            <a:ext cx="31089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Mutation testing tạo nhiều biến thể lỗi nhỏ để đánh giá test suite.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Vấn đề: số mutant lớn → chi phí thực thi cao → khó áp dụng ở quy mô thực tế.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9976" y="1261872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79976" y="1261872"/>
            <a:ext cx="73152" cy="41605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1144" y="1426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Những gì đã có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1792224"/>
            <a:ext cx="31089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LLM cho mutant generation / filtering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ML/DL cho predictive mutation testing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Learning-based mutant reduction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Random vẫn là baseline phổ biến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261872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261872"/>
            <a:ext cx="73152" cy="416052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39328" y="1426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GAP-T / GAP-M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792224"/>
            <a:ext cx="310896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Chưa có đánh giá trực tiếp GPT-4o mini như “decision-maker” chọn subset mutant hữu ích so với random fixed-seed dưới cùng budget và cùng mutation score.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32504" y="2816352"/>
            <a:ext cx="347472" cy="658368"/>
          </a:xfrm>
          <a:prstGeom prst="chevron">
            <a:avLst/>
          </a:prstGeom>
          <a:solidFill>
            <a:srgbClr val="C8D6EA"/>
          </a:solidFill>
          <a:ln w="12700">
            <a:solidFill>
              <a:srgbClr val="C8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90688" y="2816352"/>
            <a:ext cx="347472" cy="658368"/>
          </a:xfrm>
          <a:prstGeom prst="chevron">
            <a:avLst/>
          </a:prstGeom>
          <a:solidFill>
            <a:srgbClr val="C8D6EA"/>
          </a:solidFill>
          <a:ln w="12700">
            <a:solidFill>
              <a:srgbClr val="C8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6509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57A6"/>
                </a:solidFill>
              </a:rPr>
              <a:t>MOTIVATION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5596128"/>
            <a:ext cx="9738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Nếu không đặt GPT-4o mini và random vào cùng điều kiện kiểm soát, nhóm không thể biết chi phí API có tạo ra lợi ích thực sự hay không.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Evidence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Các nghiên cứu liên quan hỗ trợ từng mắt xích của proposal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435608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50876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44752" y="13807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LLM generation / filtering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3807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F80ED"/>
                </a:solidFill>
              </a:rPr>
              <a:t>Wang et al.; SMART; GEM-LLM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344168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Đã chứng minh LLM hữu ích trong mutation testing, nhưng chưa đánh giá subset selection trực tiếp.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359152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" y="2560320"/>
            <a:ext cx="384048" cy="38404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6334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44752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Predictive mutation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25054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D5BD0"/>
                </a:solidFill>
              </a:rPr>
              <a:t>SODA; MutationBERT; Seshat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46888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Tập trung dự đoán killed/survived hoặc kill matrix, không phải GPT-4o mini ranking.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483864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3685032"/>
            <a:ext cx="384048" cy="384048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37581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44752" y="3630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Selective mutation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3630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4919B"/>
                </a:solidFill>
              </a:rPr>
              <a:t>LEAM++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593592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Khẳng định hướng giảm số mutant là hợp lý và có giá trị.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4608576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6112" y="48097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7552" y="48828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44752" y="4754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Ranking vs random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94760" y="4754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Jimenez et al.; PRIMG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4718304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Cung cấp pattern so sánh selection/prioritization với random baseline.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5797296"/>
            <a:ext cx="10835640" cy="393192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590702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57A6"/>
                </a:solidFill>
              </a:rPr>
              <a:t>Synthesis → prior work supports the components, but the exact controlled comparison remains insufficiently evaluated.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Research Question, giả thuyết và tiêu chí thành công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Slide trọng tâm: claim phải khớp metric, threshold và statistical test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99648" cy="1188720"/>
          </a:xfrm>
          <a:prstGeom prst="roundRect">
            <a:avLst>
              <a:gd name="adj" fmla="val 6154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4173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9D0FF"/>
                </a:solidFill>
              </a:rPr>
              <a:t>RQ1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9344" y="1325880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Trên Defects4J Java projects, GPT-4o mini-based mutant selection có đạt mutation score cao hơn random fixed-seed selection khi cả hai chọn top 10% mutants không?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670048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2670048"/>
            <a:ext cx="73152" cy="21488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3200400"/>
            <a:ext cx="306324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MS_GPT4o ≤ MS_random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GPT-4o mini không tốt hơn random.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98264" y="2670048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98264" y="2670048"/>
            <a:ext cx="73152" cy="2148840"/>
          </a:xfrm>
          <a:prstGeom prst="rect">
            <a:avLst/>
          </a:prstGeom>
          <a:solidFill>
            <a:srgbClr val="1B9C5A"/>
          </a:solidFill>
          <a:ln w="12700">
            <a:solidFill>
              <a:srgbClr val="1B9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3200400"/>
            <a:ext cx="306324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MS_GPT4o &gt; MS_random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GPT-4o mini chọn subset hiệu quả hơn.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670048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2670048"/>
            <a:ext cx="73152" cy="214884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9328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Metric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3200400"/>
            <a:ext cx="306324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Mutation Score = Killed / Selected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Paired theo project / version / class.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5102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57A6"/>
                </a:solidFill>
              </a:rPr>
              <a:t>SUCCESS CRITERIA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501091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13432" y="508406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57A6"/>
                </a:solidFill>
              </a:rPr>
              <a:t>p &lt; 0.05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501091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508406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919B"/>
                </a:solidFill>
              </a:rPr>
              <a:t>r_rb ≥ 0.30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501091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59752" y="508406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median(ΔMS) &gt; 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25712" y="5093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64545"/>
                </a:solidFill>
              </a:rPr>
              <a:t>Chỉ kết luận ủng hộ H1 khi cả 3 điều kiện cùng đạt.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5650992"/>
            <a:ext cx="10899648" cy="493776"/>
          </a:xfrm>
          <a:prstGeom prst="roundRect">
            <a:avLst>
              <a:gd name="adj" fmla="val 7407"/>
            </a:avLst>
          </a:prstGeom>
          <a:solidFill>
            <a:srgbClr val="FFF8E9"/>
          </a:solidFill>
          <a:ln w="12700">
            <a:solidFill>
              <a:srgbClr val="F3D3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7824" y="5797296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7A5B17"/>
                </a:solidFill>
              </a:rPr>
              <a:t>Budget source gần nhất: AL-PMT (10% observed kill status). Đây là nguồn budget tham khảo, không phải ngưỡng đã được chứng minh cho LLM selection.</a:t>
            </a:r>
            <a:endParaRPr lang="en-US" sz="10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Experimental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Một mutant pool, hai chiến lược selection, cùng budget và cùng cách đo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2648" y="1993392"/>
            <a:ext cx="329184" cy="329184"/>
          </a:xfrm>
          <a:prstGeom prst="ellipse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207568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19842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Prepare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" y="23865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Defects4J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Lang + Math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21408" y="187452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31136" y="1993392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207568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9842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Generate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49424" y="23865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PIT mutant 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+ code context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95344" y="123444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05072" y="1353312"/>
            <a:ext cx="329184" cy="32918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59936" y="143560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79976" y="13441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GPT rank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0" y="174650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Fixed 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T = 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95344" y="274320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05072" y="286207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59936" y="294436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79976" y="28529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Random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0" y="325526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seed = 42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same pool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33872" y="187452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0" y="1993392"/>
            <a:ext cx="329184" cy="329184"/>
          </a:xfrm>
          <a:prstGeom prst="ellipse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98464" y="207568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18504" y="19842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Select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61888" y="23865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Top 10%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equal size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90688" y="187452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1B9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00416" y="1993392"/>
            <a:ext cx="329184" cy="329184"/>
          </a:xfrm>
          <a:prstGeom prst="ellipse">
            <a:avLst/>
          </a:prstGeom>
          <a:solidFill>
            <a:srgbClr val="1B9C5A"/>
          </a:solidFill>
          <a:ln w="12700">
            <a:solidFill>
              <a:srgbClr val="1B9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55280" y="207568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19842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Execute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18704" y="23865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Run tests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Killed / Survived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56064" y="1874520"/>
            <a:ext cx="1417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2286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765792" y="1993392"/>
            <a:ext cx="329184" cy="32918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20656" y="2075688"/>
            <a:ext cx="21945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140696" y="198424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Compare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784080" y="23865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MS + Wilcoxon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</a:rPr>
              <a:t>+ effect size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920240" y="2432304"/>
            <a:ext cx="201168" cy="0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538728" y="2432304"/>
            <a:ext cx="301752" cy="0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538728" y="2432304"/>
            <a:ext cx="301752" cy="832104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321808" y="1783080"/>
            <a:ext cx="512064" cy="502920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21808" y="3264408"/>
            <a:ext cx="512064" cy="0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251192" y="2432304"/>
            <a:ext cx="539496" cy="0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208008" y="2432304"/>
            <a:ext cx="448056" cy="0"/>
          </a:xfrm>
          <a:prstGeom prst="line">
            <a:avLst/>
          </a:prstGeom>
          <a:noFill/>
          <a:ln w="25400">
            <a:solidFill>
              <a:srgbClr val="9CB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14400" y="4626864"/>
            <a:ext cx="10287000" cy="1078992"/>
          </a:xfrm>
          <a:prstGeom prst="roundRect">
            <a:avLst>
              <a:gd name="adj" fmla="val 5085"/>
            </a:avLst>
          </a:prstGeom>
          <a:solidFill>
            <a:srgbClr val="EEF3FA"/>
          </a:solidFill>
          <a:ln w="12700">
            <a:solidFill>
              <a:srgbClr val="D6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70432" y="4828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57A6"/>
                </a:solidFill>
              </a:rPr>
              <a:t>CONTROLLED COMPARISON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63240" y="4754880"/>
            <a:ext cx="78181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Cùng mutant pool và cùng PIT configuration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Cùng số lượng mutant được chọn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Log prompt, model, output, selected IDs và API cost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Ground truth lấy từ PIT execution, không dùng LLM explanation</a:t>
            </a:r>
            <a:endParaRPr lang="en-US" sz="10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Dataset, công cụ và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Phạm vi vừa đủ cho pilot 4 tuần nhưng vẫn tái lập được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3401568" cy="45537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207008"/>
            <a:ext cx="73152" cy="4553712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37160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1737360"/>
            <a:ext cx="308152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DEFECTS4J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Java benchmark công khai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Dự kiến: Commons Lang + Commons Math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Chỉ giữ version/class build và test thành công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Ground truth: PIT killed/survived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207008"/>
            <a:ext cx="3401568" cy="45537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07408" y="1207008"/>
            <a:ext cx="73152" cy="4553712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08576" y="137160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Tooling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737360"/>
            <a:ext cx="308152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PIT (Pitest)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Generate mutants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Maven integration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Mutation report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Execution: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Kaggle Notebook / OpenJDK / Maven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Chia theo class/version nếu session &gt; 12h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6448" y="1207008"/>
            <a:ext cx="3401568" cy="455371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56448" y="1207008"/>
            <a:ext cx="73152" cy="45537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57616" y="137160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Baseline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1737360"/>
            <a:ext cx="308152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RANDOM FIXED-SEED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Cùng mutant pool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Cùng top 10% budget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Seed chính: 42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Optional: 123, 2026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Đơn giản, công bằng, tái lập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9527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357A6"/>
                </a:solidFill>
              </a:rPr>
              <a:t>Input features cho GPT-4o mini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9192" y="590702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mutant ID  •  operator  •  original code  •  mutated code  •  surrounding context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Statistical analysis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Tách rõ statistical significance và practical significance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88720"/>
            <a:ext cx="3310128" cy="448056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4813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Paired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920240"/>
            <a:ext cx="26974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</a:rPr>
              <a:t>Đơn vị: project / version / class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</a:rPr>
              <a:t>Cặp giá trị: MS_GPT4o và MS_random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</a:rPr>
              <a:t>ΔMS = MS_GPT4o − MS_random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</a:rPr>
              <a:t>Không giả định phân phối chuẩn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4498848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457200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57A6"/>
                </a:solidFill>
              </a:rPr>
              <a:t>One-sided Wilcoxon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2688" y="493776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4DE"/>
          </a:solidFill>
          <a:ln w="12700">
            <a:solidFill>
              <a:srgbClr val="FFF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5010912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α = 0.05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15968" y="1188720"/>
            <a:ext cx="3310128" cy="448056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14813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Effect size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19385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D5BD0"/>
                </a:solidFill>
              </a:rPr>
              <a:t>Matched-pairs rank-biserial correlation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0288" y="2761488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919B"/>
                </a:solidFill>
              </a:rPr>
              <a:t>r_rb ≥ 0.30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0288" y="35204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67A"/>
                </a:solidFill>
              </a:rPr>
              <a:t>Ngưỡng medium effect để tránh kết luận quá mạnh khi khác biệt chỉ nhỏ về mặt thực tế.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11887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47888" y="14813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Decision rules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0" y="1938528"/>
            <a:ext cx="3035808" cy="548640"/>
          </a:xfrm>
          <a:prstGeom prst="roundRect">
            <a:avLst>
              <a:gd name="adj" fmla="val 6667"/>
            </a:avLst>
          </a:prstGeom>
          <a:solidFill>
            <a:srgbClr val="F8FAFD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1938528"/>
            <a:ext cx="64008" cy="548640"/>
          </a:xfrm>
          <a:prstGeom prst="rect">
            <a:avLst/>
          </a:prstGeom>
          <a:solidFill>
            <a:srgbClr val="1B9C5A"/>
          </a:solidFill>
          <a:ln w="12700">
            <a:solidFill>
              <a:srgbClr val="1B9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94192" y="202996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Ủng hộ H1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91472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C667A"/>
                </a:solidFill>
              </a:rPr>
              <a:t>p&lt;.05 &amp; r≥.30 &amp; medianΔ&gt;0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229600" y="2697480"/>
            <a:ext cx="3035808" cy="548640"/>
          </a:xfrm>
          <a:prstGeom prst="roundRect">
            <a:avLst>
              <a:gd name="adj" fmla="val 6667"/>
            </a:avLst>
          </a:prstGeom>
          <a:solidFill>
            <a:srgbClr val="F8FAFD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29600" y="269748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94192" y="2788920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Có khác biệt, nhỏ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91472" y="27889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C667A"/>
                </a:solidFill>
              </a:rPr>
              <a:t>p&lt;.05 nhưng r&lt;.30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29600" y="3456432"/>
            <a:ext cx="3035808" cy="548640"/>
          </a:xfrm>
          <a:prstGeom prst="roundRect">
            <a:avLst>
              <a:gd name="adj" fmla="val 6667"/>
            </a:avLst>
          </a:prstGeom>
          <a:solidFill>
            <a:srgbClr val="F8FAFD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0" y="3456432"/>
            <a:ext cx="64008" cy="54864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94192" y="354787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Xu hướng dương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91472" y="35478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C667A"/>
                </a:solidFill>
              </a:rPr>
              <a:t>Δ&gt;0 nhưng p≥.05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229600" y="4215384"/>
            <a:ext cx="3035808" cy="548640"/>
          </a:xfrm>
          <a:prstGeom prst="roundRect">
            <a:avLst>
              <a:gd name="adj" fmla="val 6667"/>
            </a:avLst>
          </a:prstGeom>
          <a:solidFill>
            <a:srgbClr val="F8FAFD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0" y="4215384"/>
            <a:ext cx="64008" cy="5486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94192" y="430682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Không hơn random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91472" y="43068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C667A"/>
                </a:solidFill>
              </a:rPr>
              <a:t>Δ≤0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94944" y="5897880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4545"/>
                </a:solidFill>
              </a:rPr>
              <a:t>Nếu số cặp quá ít → báo cáo descriptive comparison trước, không over-claim.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Threats to validity và cách giảm thiểu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Mỗi threat được gắn trực tiếp với một control trong protocol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7512" y="1234440"/>
            <a:ext cx="108630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399032"/>
            <a:ext cx="1307592" cy="420624"/>
          </a:xfrm>
          <a:prstGeom prst="roundRect">
            <a:avLst>
              <a:gd name="adj" fmla="val 8696"/>
            </a:avLst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1790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50592" y="13990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Model drift / unfair comparison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25312" y="1380744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Pin model, temperature=0; cùng pool và budget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67512" y="2404872"/>
            <a:ext cx="108630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" y="2569464"/>
            <a:ext cx="1307592" cy="420624"/>
          </a:xfrm>
          <a:prstGeom prst="roundRect">
            <a:avLst>
              <a:gd name="adj" fmla="val 8696"/>
            </a:avLst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26883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External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50592" y="25694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Chỉ Lang + Math; phụ thuộc PIT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25312" y="2551176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Giới hạn claim; log tool/version/config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67512" y="3575304"/>
            <a:ext cx="108630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39896"/>
            <a:ext cx="1307592" cy="420624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85876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Construct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50592" y="373989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Mutation score và equivalent mutants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25312" y="3721608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Cùng metric cho hai nhánh; báo killed/survived; ghi limitation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67512" y="4745736"/>
            <a:ext cx="108630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392" y="4910328"/>
            <a:ext cx="1307592" cy="420624"/>
          </a:xfrm>
          <a:prstGeom prst="roundRect">
            <a:avLst>
              <a:gd name="adj" fmla="val 8696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0292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Conclusion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50592" y="49103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033"/>
                </a:solidFill>
              </a:rPr>
              <a:t>Sample nhỏ; random variability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25312" y="4892040"/>
            <a:ext cx="5285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Descriptive nếu n nhỏ; optional multi-seed; không HARKing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67512" y="5897880"/>
            <a:ext cx="10863072" cy="301752"/>
          </a:xfrm>
          <a:prstGeom prst="roundRect">
            <a:avLst>
              <a:gd name="adj" fmla="val 9091"/>
            </a:avLst>
          </a:prstGeom>
          <a:solidFill>
            <a:srgbClr val="F2ECFF"/>
          </a:solidFill>
          <a:ln w="12700">
            <a:solidFill>
              <a:srgbClr val="DD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5971032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6D5BD0"/>
                </a:solidFill>
              </a:rPr>
              <a:t>HARKing prevention: metric, threshold, test và subgroup được chốt trước khi chạy experiment.</a:t>
            </a:r>
            <a:endParaRPr lang="en-US" sz="107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Timeline, nguồn lực và contingency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Kế hoạch 4 tuần sau khi proposal được duyệt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235915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032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490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57A6"/>
                </a:solidFill>
              </a:rPr>
              <a:t>W5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35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Chốt RQ / metric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Verify PIT + dataset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1645920"/>
            <a:ext cx="310896" cy="411480"/>
          </a:xfrm>
          <a:prstGeom prst="chevron">
            <a:avLst/>
          </a:prstGeom>
          <a:solidFill>
            <a:srgbClr val="C8D6EA"/>
          </a:solidFill>
          <a:ln w="12700">
            <a:solidFill>
              <a:srgbClr val="C8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0" y="1298448"/>
            <a:ext cx="235915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0320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9312" y="1490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5BD0"/>
                </a:solidFill>
              </a:rPr>
              <a:t>W6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33088" y="1435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Pilot prompt / API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Merge &amp; defense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70448" y="1645920"/>
            <a:ext cx="310896" cy="411480"/>
          </a:xfrm>
          <a:prstGeom prst="chevron">
            <a:avLst/>
          </a:prstGeom>
          <a:solidFill>
            <a:srgbClr val="C8D6EA"/>
          </a:solidFill>
          <a:ln w="12700">
            <a:solidFill>
              <a:srgbClr val="C8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36208" y="1298448"/>
            <a:ext cx="235915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032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490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919B"/>
                </a:solidFill>
              </a:rPr>
              <a:t>W7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94576" y="1435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Pilot experiment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Mutant pool + ranking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31936" y="1645920"/>
            <a:ext cx="310896" cy="411480"/>
          </a:xfrm>
          <a:prstGeom prst="chevron">
            <a:avLst/>
          </a:prstGeom>
          <a:solidFill>
            <a:srgbClr val="C8D6EA"/>
          </a:solidFill>
          <a:ln w="12700">
            <a:solidFill>
              <a:srgbClr val="C8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97696" y="1298448"/>
            <a:ext cx="235915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03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62288" y="14904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W8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56064" y="14356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Full / expanded pilot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Analysis + 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2816352"/>
            <a:ext cx="341985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2816352"/>
            <a:ext cx="73152" cy="246888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29809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Nguồn lực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346704"/>
            <a:ext cx="3099816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Defects4J + PIT: $0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Kaggle / local Maven: $0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GPT-4o mini 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Python + SciPy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• 5 thành viên, role tách biệt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2816352"/>
            <a:ext cx="341985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9120" y="2816352"/>
            <a:ext cx="73152" cy="2468880"/>
          </a:xfrm>
          <a:prstGeom prst="rect">
            <a:avLst/>
          </a:prstGeom>
          <a:solidFill>
            <a:srgbClr val="1B9C5A"/>
          </a:solidFill>
          <a:ln w="12700">
            <a:solidFill>
              <a:srgbClr val="1B9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0288" y="29809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Chi phí dự kiến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90288" y="3346704"/>
            <a:ext cx="3099816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$1–3 cho pilot downscope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2,000–5,000 mutants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+ 20% rerun buffer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Chi phí thật sẽ log theo token.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65008" y="2816352"/>
            <a:ext cx="3419856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65008" y="2816352"/>
            <a:ext cx="73152" cy="24688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66176" y="298094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Contingency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66176" y="3346704"/>
            <a:ext cx="3099816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PIT lâu → giảm class/version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API lỗi → giảm context / batch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Không đủ pairs → descriptive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GPT không hơn random → negative finding hợp lệ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573328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Deliverables: mutant_pool.csv  •  llm_output.csv  •  analysis.ipynb  •  result table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Đóng góp dự kiến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Giá trị của nghiên cứu vẫn tồn tại dù kết quả dương hay âm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53312"/>
            <a:ext cx="73152" cy="4114800"/>
          </a:xfrm>
          <a:prstGeom prst="rect">
            <a:avLst/>
          </a:prstGeom>
          <a:solidFill>
            <a:srgbClr val="2357A6"/>
          </a:solidFill>
          <a:ln w="12700">
            <a:solidFill>
              <a:srgbClr val="23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179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Đóng góp thực nghiệm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883664"/>
            <a:ext cx="306324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So sánh trực tiếp GPT-4o mini ranking với random fixed-seed trong cùng điều kiện kiểm soát.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353312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07408" y="1353312"/>
            <a:ext cx="73152" cy="4114800"/>
          </a:xfrm>
          <a:prstGeom prst="rect">
            <a:avLst/>
          </a:prstGeom>
          <a:solidFill>
            <a:srgbClr val="14919B"/>
          </a:solidFill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08576" y="15179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Đóng góp phương pháp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883664"/>
            <a:ext cx="306324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Pipeline tái lập: fixed prompt, pinned model, same budget, selected IDs, seed và statistical plan.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353312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83296" y="1353312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84464" y="15179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Đóng góp thực tiễn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1883664"/>
            <a:ext cx="306324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667A"/>
                </a:solidFill>
              </a:rPr>
              <a:t>Cung cấp bằng chứng để quyết định có nên trả chi phí API cho mutant selection hay dùng baseline đơn giản.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53312" y="5669280"/>
            <a:ext cx="9464040" cy="475488"/>
          </a:xfrm>
          <a:prstGeom prst="roundRect">
            <a:avLst>
              <a:gd name="adj" fmla="val 7692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72768" y="5806440"/>
            <a:ext cx="9015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Positive result → evidence of value    |    Negative result → documented limitation and future-work direction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B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548640" y="4297680"/>
            <a:ext cx="3108960" cy="3108960"/>
          </a:xfrm>
          <a:prstGeom prst="arc">
            <a:avLst/>
          </a:prstGeom>
          <a:solidFill>
            <a:srgbClr val="2F80ED">
              <a:alpha val="60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2000000">
            <a:off x="9784080" y="-548640"/>
            <a:ext cx="3017520" cy="3017520"/>
          </a:xfrm>
          <a:prstGeom prst="arc">
            <a:avLst/>
          </a:prstGeom>
          <a:solidFill>
            <a:srgbClr val="14919B">
              <a:alpha val="65000"/>
            </a:srgbClr>
          </a:solidFill>
          <a:ln w="12700">
            <a:solidFill>
              <a:srgbClr val="1491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50208" y="138988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2834640" y="2487168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7E7FB"/>
                </a:solidFill>
              </a:rPr>
              <a:t>Cảm ơn thầy/cô và các bạn đã lắng nghe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3154680"/>
            <a:ext cx="4069080" cy="0"/>
          </a:xfrm>
          <a:prstGeom prst="line">
            <a:avLst/>
          </a:prstGeom>
          <a:noFill/>
          <a:ln w="25400">
            <a:solidFill>
              <a:srgbClr val="6FA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606247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DD6"/>
                </a:solidFill>
              </a:rPr>
              <a:t>Nhóm 3  •  GPT-4o mini-based Mutant Selection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1538</Words>
  <Application>Microsoft Office PowerPoint</Application>
  <PresentationFormat>Widescreen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FPT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GPT-4o mini-based Mutant Selection for Java Mutation Testing</dc:title>
  <dc:subject>Proposal Defense</dc:subject>
  <dc:creator>Nhóm 3</dc:creator>
  <cp:lastModifiedBy>Quỳnh Phạm</cp:lastModifiedBy>
  <cp:revision>2</cp:revision>
  <dcterms:created xsi:type="dcterms:W3CDTF">2026-06-19T01:31:57Z</dcterms:created>
  <dcterms:modified xsi:type="dcterms:W3CDTF">2026-06-19T01:49:23Z</dcterms:modified>
</cp:coreProperties>
</file>